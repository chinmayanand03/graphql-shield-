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83e84df-1c58-b4d9-6dfe-2715dd42b358}">
          <p14:sldIdLst>
            <p14:sldId id="256"/>
            <p14:sldId id="257"/>
            <p14:sldId id="258"/>
          </p14:sldIdLst>
        </p14:section>
        <p14:section name="How it works" id="{5d0c61bd-a210-4592-ac00-91455d4920da}">
          <p14:sldIdLst>
            <p14:sldId id="259"/>
            <p14:sldId id="260"/>
            <p14:sldId id="261"/>
            <p14:sldId id="262"/>
          </p14:sldIdLst>
        </p14:section>
        <p14:section name="The dashboard" id="{8704c8b2-cbb5-5342-453f-863b9e23936b}">
          <p14:sldIdLst>
            <p14:sldId id="263"/>
            <p14:sldId id="264"/>
            <p14:sldId id="265"/>
            <p14:sldId id="266"/>
          </p14:sldIdLst>
        </p14:section>
        <p14:section name="Results and demo" id="{290ad8ce-e4e4-b053-1b5d-652501a3c4be}">
          <p14:sldIdLst>
            <p14:sldId id="267"/>
            <p14:sldId id="268"/>
            <p14:sldId id="269"/>
          </p14:sldIdLst>
        </p14:section>
        <p14:section name="Close" id="{b5636fe1-e4e8-02ef-30e6-357e3f66376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426"/>
                </a:solidFill>
                <a:latin typeface="+mn-lt"/>
              </a:defRPr>
            </a:pPr>
            <a:r>
              <a:rPr sz="1400" b="0" i="0" u="none" strike="noStrike">
                <a:solidFill>
                  <a:srgbClr val="0B1426"/>
                </a:solidFill>
                <a:latin typeface="+mn-lt"/>
              </a:rPr>
              <a:t>Time per protected request (ms): connection pooling made it 3 to 4.8 times faster</a:t>
            </a:r>
          </a:p>
        </c:rich>
      </c:tx>
      <c:layout/>
      <c:overlay val="0"/>
    </c:title>
    <c:autoTitleDeleted val="0"/>
    <c:plotArea>
      <c:layout/>
      <c:barChart>
        <c:barDir val="col"/>
        <c:grouping val="clustered"/>
        <c:varyColors val="0"/>
        <c:ser>
          <c:idx val="0"/>
          <c:order val="0"/>
          <c:tx>
            <c:strRef>
              <c:f>Sheet1!$B$1</c:f>
              <c:strCache>
                <c:ptCount val="1"/>
                <c:pt idx="0">
                  <c:v>Before pooling</c:v>
                </c:pt>
              </c:strCache>
            </c:strRef>
          </c:tx>
          <c:spPr>
            <a:solidFill>
              <a:srgbClr val="B7C2D3"/>
            </a:solidFill>
            <a:effectLst/>
          </c:spPr>
          <c:invertIfNegative val="0"/>
          <c:dLbls>
            <c:numFmt formatCode="0.0" sourceLinked="0"/>
            <c:txPr>
              <a:bodyPr/>
              <a:lstStyle/>
              <a:p>
                <a:pPr>
                  <a:defRPr b="0" i="0" strike="noStrike" sz="1200" u="none">
                    <a:solidFill>
                      <a:srgbClr val="0B1426"/>
                    </a:solidFill>
                    <a:latin typeface="+mn-lt"/>
                  </a:defRPr>
                </a:pPr>
              </a:p>
            </c:txPr>
            <c:showLegendKey val="0"/>
            <c:showVal val="1"/>
            <c:showCatName val="0"/>
            <c:showSerName val="0"/>
            <c:showPercent val="0"/>
            <c:showBubbleSize val="0"/>
            <c:showLeaderLines val="0"/>
          </c:dLbls>
          <c:cat>
            <c:multiLvlStrRef>
              <c:f>Sheet1!$A$2:$A$4</c:f>
              <c:multiLvlStrCache>
                <c:ptCount val="3"/>
                <c:lvl>
                  <c:pt idx="0">
                    <c:v>Own lookup</c:v>
                  </c:pt>
                  <c:pt idx="1">
                    <c:v>Folder children</c:v>
                  </c:pt>
                  <c:pt idx="2">
                    <c:v>Own update</c:v>
                  </c:pt>
                </c:lvl>
              </c:multiLvlStrCache>
            </c:multiLvlStrRef>
          </c:cat>
          <c:val>
            <c:numRef>
              <c:f>Sheet1!$B$2:$B$4</c:f>
              <c:numCache>
                <c:formatCode>General</c:formatCode>
                <c:ptCount val="3"/>
                <c:pt idx="0">
                  <c:v>59.2</c:v>
                </c:pt>
                <c:pt idx="1">
                  <c:v>183.5</c:v>
                </c:pt>
                <c:pt idx="2">
                  <c:v>84.3</c:v>
                </c:pt>
              </c:numCache>
            </c:numRef>
          </c:val>
        </c:ser>
        <c:ser>
          <c:idx val="1"/>
          <c:order val="1"/>
          <c:tx>
            <c:strRef>
              <c:f>Sheet1!$C$1</c:f>
              <c:strCache>
                <c:ptCount val="1"/>
                <c:pt idx="0">
                  <c:v>After pooling</c:v>
                </c:pt>
              </c:strCache>
            </c:strRef>
          </c:tx>
          <c:spPr>
            <a:solidFill>
              <a:srgbClr val="0B8FA6"/>
            </a:solidFill>
            <a:effectLst/>
          </c:spPr>
          <c:invertIfNegative val="0"/>
          <c:dLbls>
            <c:numFmt formatCode="0.0" sourceLinked="0"/>
            <c:txPr>
              <a:bodyPr/>
              <a:lstStyle/>
              <a:p>
                <a:pPr>
                  <a:defRPr b="0" i="0" strike="noStrike" sz="1200" u="none">
                    <a:solidFill>
                      <a:srgbClr val="0B1426"/>
                    </a:solidFill>
                    <a:latin typeface="+mn-lt"/>
                  </a:defRPr>
                </a:pPr>
              </a:p>
            </c:txPr>
            <c:showLegendKey val="0"/>
            <c:showVal val="1"/>
            <c:showCatName val="0"/>
            <c:showSerName val="0"/>
            <c:showPercent val="0"/>
            <c:showBubbleSize val="0"/>
            <c:showLeaderLines val="0"/>
          </c:dLbls>
          <c:cat>
            <c:multiLvlStrRef>
              <c:f>Sheet1!$A$2:$A$4</c:f>
              <c:multiLvlStrCache>
                <c:ptCount val="3"/>
                <c:lvl>
                  <c:pt idx="0">
                    <c:v>Own lookup</c:v>
                  </c:pt>
                  <c:pt idx="1">
                    <c:v>Folder children</c:v>
                  </c:pt>
                  <c:pt idx="2">
                    <c:v>Own update</c:v>
                  </c:pt>
                </c:lvl>
              </c:multiLvlStrCache>
            </c:multiLvlStrRef>
          </c:cat>
          <c:val>
            <c:numRef>
              <c:f>Sheet1!$C$2:$C$4</c:f>
              <c:numCache>
                <c:formatCode>General</c:formatCode>
                <c:ptCount val="3"/>
                <c:pt idx="0">
                  <c:v>19.6</c:v>
                </c:pt>
                <c:pt idx="1">
                  <c:v>38.4</c:v>
                </c:pt>
                <c:pt idx="2">
                  <c:v>29.4</c:v>
                </c:pt>
              </c:numCache>
            </c:numRef>
          </c:val>
        </c:ser>
        <c:dLbls>
          <c:numFmt formatCode="0.0" sourceLinked="0"/>
          <c:txPr>
            <a:bodyPr/>
            <a:lstStyle/>
            <a:p>
              <a:pPr>
                <a:defRPr b="0" i="0" strike="noStrike" sz="1200" u="none">
                  <a:solidFill>
                    <a:srgbClr val="0B142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42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42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GraphQL-Shield. It protects GraphQL APIs from a very common attack called BOLA, where a user reads or changes someone else's data. The picture shows the idea: two security layers around each user's data. Layer 1 checks a request before it runs, Layer 2 checks it while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BOLA means Broken Object Level Authorization. Balanilavan asks for document 101, which is his. Then he simply changes the number to 102, which belongs to Kapilesh. If the server only checks that he is logged in, and not that he owns the object, it hands over Kapilesh's data. OWASP lists this as the number one API security risk. It is hard to detect because the request looks completely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makes BOLA harder. Case 1: the ID is written directly, easy. Case 2: the ID is hidden inside another query, so the check must scan the whole query. Case 3 is the tricky one: you ask for your own folder and its children. The documents inside are fetched without their IDs ever appearing in the query. A security check that only reads IDs cannot see them. This is why one layer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uses two independent layers. Layer 1 is like a security guard at the door: before the query runs, it reads every ID in the request, checks who owns each one, and if any is not yours, it rejects the whole request. Layer 2 is like a cashier: while the query runs, it checks every object actually being handed back, and every change before it happens, and removes anything that is not yours. Every decision is logged, and an ML model learns from those logs where Layer 1 is blind. The model only warns, it never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of one request. Step 1, the user logs in and gets a token, like an ID card. Step 2, the token tells us who they are. Step 3, Layer 1 checks every ID in the query; if any is not theirs, we stop here with error 403 and nothing runs. Step 4, the query runs and Layer 2 checks every object coming back, removing anything foreign. Step 5, the user gets only their own data. And at every step, the decision is saved in the audit log, which is what the dashboard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example from our demo data. Balanilavan asks for his own folder 201 and its contents. Layer 1 sees only the ID 201, which is his, so it allows the request; it cannot see the documents inside because their IDs are not written. The query runs and finds three documents. Layer 2 checks each one: 202 and 203 are his, so they are kept. 204 belongs to Kapilesh, so it is removed. Without protection, 204 would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part of our project. Layer 2 automatically writes down every object Layer 1 missed. We used those notes as training data, so no one had to label anything by hand. The ML model learned which queries Layer 1 misses, and it found a real bug: Layer 1 ignored default values in GraphQL variables. Our own hand-written rule missed all 585 such requests. After we fixed Layer 1, attacks that only Layer 2 could stop dropped by 66 percent. The model only gives warnings; it never blocks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dashboard. It has three tabs. Security Testing is where we send real attacks and watch them being blocked. Research and ML shows our two models. Audit and Verification is the evidence, with every decision and the real owner of each object. It refreshes every 30 seconds, sensitive details are admin only, and every number comes straight from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1 is Security Testing. At the top are summary cards counting allowed and blocked decisions. Then the demo accounts, every password is the username plus 123. The test console lets us pretend to be a user and send a real attack. The table shows the seven attacks we can try. Six are blocked outright with error 403. The folder one is special: the request is allowed, but Layer 2 removes Kapilesh's document. After each test, a five-step flow explains how the decision was made, and the dual-layer counters show which layer stopped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2 holds our two machine-learning models. The behavioural model watches each user's activity over time, like a bank spotting unusual card use, and gives a risk level. We report honestly that a simple rule did as well as the model. The blind-spot predictor is our main contribution: before a query runs, it predicts whether Layer 1 will miss something. It was trained on Layer 2's notes and found the variable-default bug. On the dashboard you can paste any query and get a prediction. Neither model can block anything; the two layers make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3 is the evidence. There is a ring chart and an overview of allowed and denied decisions. The six property cards summarise security properties our automated tests check, for example that an owner is never wrongly blocked. The decisions table shows, for every request, who asked, which object, and its true owner, marked owned or foreign. The audit log can be searched, filtered and exported. All personal details are admin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On our benchmark, all 2,267 attacks were blocked and no legitimate request was blocked. 317 automated tests pass. The chart shows speed: at first the protection was slow because every check opened a new database connection; by reusing connections we made it three to almost five times faster. We also compared with graphql-shield, a popular existing tool: both stopped all 13 attacks, but graphql-shield accidentally hid an owner's own documents in one of five normal requests, while ours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Step one: on the insecure endpoint, Balanilavan lists folder 201 and sees Kapilesh's document 204: that is the leak. Step two: the same request on the protected endpoint, and 204 is removed. Step three: a direct request for Kapilesh's document 102 is blocked with 403, and the five-step flow explains why. Step four: in the research tab, the blind-spot predictor scores a query and shows the bug it 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limits. Both test applications and the attacks were built by us, the rules support only owner or admin access, speed was measured on a laptop, and after the bug fix the model is no better than a simple rule; its value was the discovery. Next, we want to test on a real open-source GraphQL application, use attacks written by other people, support sharing and roles, and finish the research paper, which is already drafted.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Layer 1 checks every ID before a query runs, Layer 2 checks every object while it runs, and Layer 2's records teach a model where Layer 1 is blind.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14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29000"/>
            <a:ext cx="6035040" cy="12801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GraphQL-Shield</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lIns="0" tIns="0" rIns="0" bIns="0" rtlCol="0" anchor="b"/>
          <a:lstStyle/>
          <a:p>
            <a:pPr algn="l" indent="0" marL="0">
              <a:buNone/>
            </a:pPr>
            <a:r>
              <a:rPr lang="en-US" sz="4800" b="1" dirty="0">
                <a:solidFill>
                  <a:schemeClr val="bg1"/>
                </a:solidFill>
              </a:rPr>
              <a:t>GraphQL-Shield</a:t>
            </a:r>
            <a:endParaRPr lang="en-US" sz="4800" dirty="0"/>
          </a:p>
        </p:txBody>
      </p:sp>
      <p:sp>
        <p:nvSpPr>
          <p:cNvPr id="3" name="Text 0"/>
          <p:cNvSpPr/>
          <p:nvPr>
            <p:ph idx="101" type="body" hasCustomPrompt="1"/>
          </p:nvPr>
        </p:nvSpPr>
        <p:spPr>
          <a:xfrm>
            <a:off x="731520" y="3429000"/>
            <a:ext cx="6035040" cy="1280160"/>
          </a:xfrm>
          <a:prstGeom prst="rect">
            <a:avLst/>
          </a:prstGeom>
          <a:noFill/>
          <a:ln/>
        </p:spPr>
        <p:txBody>
          <a:bodyPr wrap="square" lIns="0" tIns="0" rIns="0" bIns="0" rtlCol="0" anchor="t"/>
          <a:lstStyle/>
          <a:p>
            <a:pPr algn="l" indent="0" marL="0">
              <a:buNone/>
            </a:pPr>
            <a:r>
              <a:rPr lang="en-US" sz="2200" dirty="0">
                <a:solidFill>
                  <a:schemeClr val="accent6"/>
                </a:solidFill>
              </a:rPr>
              <a:t>Stopping BOLA attacks in GraphQL APIs with two independent security layers</a:t>
            </a:r>
            <a:endParaRPr lang="en-US" sz="2200" dirty="0"/>
          </a:p>
        </p:txBody>
      </p:sp>
      <p:sp>
        <p:nvSpPr>
          <p:cNvPr id="4" name="occasion"/>
          <p:cNvSpPr txBox="1"/>
          <p:nvPr/>
        </p:nvSpPr>
        <p:spPr>
          <a:xfrm>
            <a:off x="731520" y="5120640"/>
            <a:ext cx="6035040" cy="365760"/>
          </a:xfrm>
          <a:prstGeom prst="rect">
            <a:avLst/>
          </a:prstGeom>
          <a:noFill/>
          <a:ln/>
        </p:spPr>
        <p:txBody>
          <a:bodyPr wrap="square" lIns="0" tIns="0" rIns="0" bIns="0" rtlCol="0" anchor="t"/>
          <a:lstStyle/>
          <a:p>
            <a:pPr indent="0" marL="0">
              <a:buNone/>
            </a:pPr>
            <a:r>
              <a:rPr lang="en-US" sz="1400" dirty="0">
                <a:solidFill>
                  <a:schemeClr val="accent5"/>
                </a:solidFill>
              </a:rPr>
              <a:t>Project presentation and dashboard demo</a:t>
            </a:r>
            <a:endParaRPr lang="en-US" sz="1400" dirty="0"/>
          </a:p>
        </p:txBody>
      </p:sp>
      <p:sp>
        <p:nvSpPr>
          <p:cNvPr id="5" name="layer 1 ring"/>
          <p:cNvSpPr/>
          <p:nvPr/>
        </p:nvSpPr>
        <p:spPr>
          <a:xfrm>
            <a:off x="7406640" y="1188720"/>
            <a:ext cx="4023360" cy="4480560"/>
          </a:xfrm>
          <a:prstGeom prst="roundRect">
            <a:avLst>
              <a:gd name="adj" fmla="val 6818"/>
            </a:avLst>
          </a:prstGeom>
          <a:solidFill>
            <a:schemeClr val="tx2"/>
          </a:solidFill>
          <a:ln w="25400">
            <a:solidFill>
              <a:schemeClr val="accent1"/>
            </a:solidFill>
            <a:prstDash val="solid"/>
          </a:ln>
        </p:spPr>
      </p:sp>
      <p:sp>
        <p:nvSpPr>
          <p:cNvPr id="6" name="layer 1 label"/>
          <p:cNvSpPr txBox="1"/>
          <p:nvPr/>
        </p:nvSpPr>
        <p:spPr>
          <a:xfrm>
            <a:off x="7680960" y="1371600"/>
            <a:ext cx="3474720" cy="365760"/>
          </a:xfrm>
          <a:prstGeom prst="rect">
            <a:avLst/>
          </a:prstGeom>
          <a:noFill/>
          <a:ln/>
        </p:spPr>
        <p:txBody>
          <a:bodyPr wrap="square" lIns="0" tIns="0" rIns="0" bIns="0" rtlCol="0" anchor="t"/>
          <a:lstStyle/>
          <a:p>
            <a:pPr indent="0" marL="0">
              <a:buNone/>
            </a:pPr>
            <a:r>
              <a:rPr lang="en-US" sz="1400" b="1" dirty="0">
                <a:solidFill>
                  <a:schemeClr val="accent6"/>
                </a:solidFill>
              </a:rPr>
              <a:t>Layer 1 · checks before running</a:t>
            </a:r>
            <a:endParaRPr lang="en-US" sz="1400" dirty="0"/>
          </a:p>
        </p:txBody>
      </p:sp>
      <p:sp>
        <p:nvSpPr>
          <p:cNvPr id="7" name="layer 2 ring"/>
          <p:cNvSpPr/>
          <p:nvPr/>
        </p:nvSpPr>
        <p:spPr>
          <a:xfrm>
            <a:off x="7863840" y="1920240"/>
            <a:ext cx="3108960" cy="3383280"/>
          </a:xfrm>
          <a:prstGeom prst="roundRect">
            <a:avLst>
              <a:gd name="adj" fmla="val 7353"/>
            </a:avLst>
          </a:prstGeom>
          <a:solidFill>
            <a:schemeClr val="accent1"/>
          </a:solidFill>
          <a:ln w="12700">
            <a:solidFill>
              <a:schemeClr val="accent1"/>
            </a:solidFill>
            <a:prstDash val="solid"/>
          </a:ln>
        </p:spPr>
      </p:sp>
      <p:sp>
        <p:nvSpPr>
          <p:cNvPr id="8" name="layer 2 label"/>
          <p:cNvSpPr txBox="1"/>
          <p:nvPr/>
        </p:nvSpPr>
        <p:spPr>
          <a:xfrm>
            <a:off x="8092440" y="2103120"/>
            <a:ext cx="2651760" cy="365760"/>
          </a:xfrm>
          <a:prstGeom prst="rect">
            <a:avLst/>
          </a:prstGeom>
          <a:noFill/>
          <a:ln/>
        </p:spPr>
        <p:txBody>
          <a:bodyPr wrap="square" lIns="0" tIns="0" rIns="0" bIns="0" rtlCol="0" anchor="t"/>
          <a:lstStyle/>
          <a:p>
            <a:pPr indent="0" marL="0">
              <a:buNone/>
            </a:pPr>
            <a:r>
              <a:rPr lang="en-US" sz="1400" b="1" dirty="0">
                <a:solidFill>
                  <a:schemeClr val="bg1"/>
                </a:solidFill>
              </a:rPr>
              <a:t>Layer 2 · checks while running</a:t>
            </a:r>
            <a:endParaRPr lang="en-US" sz="1400" dirty="0"/>
          </a:p>
        </p:txBody>
      </p:sp>
      <p:sp>
        <p:nvSpPr>
          <p:cNvPr id="9" name="data core"/>
          <p:cNvSpPr/>
          <p:nvPr/>
        </p:nvSpPr>
        <p:spPr>
          <a:xfrm>
            <a:off x="8412480" y="2880360"/>
            <a:ext cx="2011680" cy="1828800"/>
          </a:xfrm>
          <a:prstGeom prst="roundRect">
            <a:avLst>
              <a:gd name="adj" fmla="val 10000"/>
            </a:avLst>
          </a:prstGeom>
          <a:solidFill>
            <a:schemeClr val="bg1"/>
          </a:solidFill>
          <a:ln w="12700">
            <a:solidFill>
              <a:schemeClr val="bg1"/>
            </a:solidFill>
            <a:prstDash val="solid"/>
          </a:ln>
        </p:spPr>
      </p:sp>
      <p:sp>
        <p:nvSpPr>
          <p:cNvPr id="10" name="data core label"/>
          <p:cNvSpPr txBox="1"/>
          <p:nvPr/>
        </p:nvSpPr>
        <p:spPr>
          <a:xfrm>
            <a:off x="8503920" y="2880360"/>
            <a:ext cx="1828800" cy="1828800"/>
          </a:xfrm>
          <a:prstGeom prst="rect">
            <a:avLst/>
          </a:prstGeom>
          <a:noFill/>
          <a:ln/>
        </p:spPr>
        <p:txBody>
          <a:bodyPr wrap="square" lIns="0" tIns="0" rIns="0" bIns="0" rtlCol="0" anchor="ctr"/>
          <a:lstStyle/>
          <a:p>
            <a:pPr algn="ctr" indent="0" marL="0">
              <a:buNone/>
            </a:pPr>
            <a:r>
              <a:rPr lang="en-US" sz="1600" b="1" dirty="0">
                <a:solidFill>
                  <a:schemeClr val="tx1"/>
                </a:solidFill>
              </a:rPr>
              <a:t>Each user's own data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BOLA: change one number, get someone else's data</a:t>
            </a:r>
            <a:endParaRPr lang="en-US" sz="3200" dirty="0"/>
          </a:p>
        </p:txBody>
      </p:sp>
      <p:sp>
        <p:nvSpPr>
          <p:cNvPr id="3" name="request ok card"/>
          <p:cNvSpPr/>
          <p:nvPr/>
        </p:nvSpPr>
        <p:spPr>
          <a:xfrm>
            <a:off x="548640" y="1554480"/>
            <a:ext cx="6766560" cy="1737360"/>
          </a:xfrm>
          <a:prstGeom prst="roundRect">
            <a:avLst>
              <a:gd name="adj" fmla="val 6316"/>
            </a:avLst>
          </a:prstGeom>
          <a:solidFill>
            <a:schemeClr val="bg2"/>
          </a:solidFill>
          <a:ln w="12700">
            <a:solidFill>
              <a:schemeClr val="bg2"/>
            </a:solidFill>
            <a:prstDash val="solid"/>
          </a:ln>
        </p:spPr>
      </p:sp>
      <p:sp>
        <p:nvSpPr>
          <p:cNvPr id="4" name="ok heading"/>
          <p:cNvSpPr txBox="1"/>
          <p:nvPr/>
        </p:nvSpPr>
        <p:spPr>
          <a:xfrm>
            <a:off x="822960" y="1737360"/>
            <a:ext cx="6217920" cy="365760"/>
          </a:xfrm>
          <a:prstGeom prst="rect">
            <a:avLst/>
          </a:prstGeom>
          <a:noFill/>
          <a:ln/>
        </p:spPr>
        <p:txBody>
          <a:bodyPr wrap="square" lIns="0" tIns="0" rIns="0" bIns="0" rtlCol="0" anchor="t"/>
          <a:lstStyle/>
          <a:p>
            <a:pPr indent="0" marL="0">
              <a:buNone/>
            </a:pPr>
            <a:r>
              <a:rPr lang="en-US" sz="1800" b="1" dirty="0">
                <a:solidFill>
                  <a:schemeClr val="tx1"/>
                </a:solidFill>
              </a:rPr>
              <a:t>Balanilavan asks for his own document</a:t>
            </a:r>
            <a:endParaRPr lang="en-US" sz="1800" dirty="0"/>
          </a:p>
        </p:txBody>
      </p:sp>
      <p:sp>
        <p:nvSpPr>
          <p:cNvPr id="5" name="ok query"/>
          <p:cNvSpPr txBox="1"/>
          <p:nvPr/>
        </p:nvSpPr>
        <p:spPr>
          <a:xfrm>
            <a:off x="822960" y="2240280"/>
            <a:ext cx="3840480" cy="457200"/>
          </a:xfrm>
          <a:prstGeom prst="rect">
            <a:avLst/>
          </a:prstGeom>
          <a:noFill/>
          <a:ln/>
        </p:spPr>
        <p:txBody>
          <a:bodyPr wrap="square" lIns="0" tIns="0" rIns="0" bIns="0" rtlCol="0" anchor="t"/>
          <a:lstStyle/>
          <a:p>
            <a:pPr indent="0" marL="0">
              <a:buNone/>
            </a:pPr>
            <a:r>
              <a:rPr lang="en-US" sz="1800" dirty="0">
                <a:solidFill>
                  <a:schemeClr val="tx2"/>
                </a:solidFill>
                <a:latin typeface="Courier New" pitchFamily="34" charset="0"/>
                <a:ea typeface="Courier New" pitchFamily="34" charset="-122"/>
                <a:cs typeface="Courier New" pitchFamily="34" charset="-120"/>
              </a:rPr>
              <a:t>resource(id: 101)</a:t>
            </a:r>
            <a:endParaRPr lang="en-US" sz="1800" dirty="0"/>
          </a:p>
        </p:txBody>
      </p:sp>
      <p:sp>
        <p:nvSpPr>
          <p:cNvPr id="6" name="ok pill"/>
          <p:cNvSpPr/>
          <p:nvPr/>
        </p:nvSpPr>
        <p:spPr>
          <a:xfrm>
            <a:off x="5120640" y="2286000"/>
            <a:ext cx="1920240" cy="329184"/>
          </a:xfrm>
          <a:prstGeom prst="roundRect">
            <a:avLst>
              <a:gd name="adj" fmla="val 50000"/>
            </a:avLst>
          </a:prstGeom>
          <a:solidFill>
            <a:schemeClr val="accent2"/>
          </a:solidFill>
          <a:ln w="12700">
            <a:solidFill>
              <a:schemeClr val="accent2"/>
            </a:solidFill>
            <a:prstDash val="solid"/>
          </a:ln>
        </p:spPr>
      </p:sp>
      <p:sp>
        <p:nvSpPr>
          <p:cNvPr id="7" name="ok pill text"/>
          <p:cNvSpPr txBox="1"/>
          <p:nvPr/>
        </p:nvSpPr>
        <p:spPr>
          <a:xfrm>
            <a:off x="5120640" y="2286000"/>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His own: fine</a:t>
            </a:r>
            <a:endParaRPr lang="en-US" sz="1200" dirty="0"/>
          </a:p>
        </p:txBody>
      </p:sp>
      <p:sp>
        <p:nvSpPr>
          <p:cNvPr id="8" name="ok note"/>
          <p:cNvSpPr txBox="1"/>
          <p:nvPr/>
        </p:nvSpPr>
        <p:spPr>
          <a:xfrm>
            <a:off x="822960" y="2743200"/>
            <a:ext cx="6217920" cy="365760"/>
          </a:xfrm>
          <a:prstGeom prst="rect">
            <a:avLst/>
          </a:prstGeom>
          <a:noFill/>
          <a:ln/>
        </p:spPr>
        <p:txBody>
          <a:bodyPr wrap="square" lIns="0" tIns="0" rIns="0" bIns="0" rtlCol="0" anchor="t"/>
          <a:lstStyle/>
          <a:p>
            <a:pPr indent="0" marL="0">
              <a:buNone/>
            </a:pPr>
            <a:r>
              <a:rPr lang="en-US" sz="1400" dirty="0">
                <a:solidFill>
                  <a:schemeClr val="accent5"/>
                </a:solidFill>
              </a:rPr>
              <a:t>Owner of 101 is Balanilavan</a:t>
            </a:r>
            <a:endParaRPr lang="en-US" sz="1400" dirty="0"/>
          </a:p>
        </p:txBody>
      </p:sp>
      <p:sp>
        <p:nvSpPr>
          <p:cNvPr id="9" name="request attack card"/>
          <p:cNvSpPr/>
          <p:nvPr/>
        </p:nvSpPr>
        <p:spPr>
          <a:xfrm>
            <a:off x="548640" y="3566160"/>
            <a:ext cx="6766560" cy="1737360"/>
          </a:xfrm>
          <a:prstGeom prst="roundRect">
            <a:avLst>
              <a:gd name="adj" fmla="val 6316"/>
            </a:avLst>
          </a:prstGeom>
          <a:solidFill>
            <a:schemeClr val="bg2"/>
          </a:solidFill>
          <a:ln w="12700">
            <a:solidFill>
              <a:schemeClr val="bg2"/>
            </a:solidFill>
            <a:prstDash val="solid"/>
          </a:ln>
        </p:spPr>
      </p:sp>
      <p:sp>
        <p:nvSpPr>
          <p:cNvPr id="10" name="attack heading"/>
          <p:cNvSpPr txBox="1"/>
          <p:nvPr/>
        </p:nvSpPr>
        <p:spPr>
          <a:xfrm>
            <a:off x="822960" y="3749040"/>
            <a:ext cx="6217920" cy="365760"/>
          </a:xfrm>
          <a:prstGeom prst="rect">
            <a:avLst/>
          </a:prstGeom>
          <a:noFill/>
          <a:ln/>
        </p:spPr>
        <p:txBody>
          <a:bodyPr wrap="square" lIns="0" tIns="0" rIns="0" bIns="0" rtlCol="0" anchor="t"/>
          <a:lstStyle/>
          <a:p>
            <a:pPr indent="0" marL="0">
              <a:buNone/>
            </a:pPr>
            <a:r>
              <a:rPr lang="en-US" sz="1800" b="1" dirty="0">
                <a:solidFill>
                  <a:schemeClr val="tx1"/>
                </a:solidFill>
              </a:rPr>
              <a:t>He changes one number</a:t>
            </a:r>
            <a:endParaRPr lang="en-US" sz="1800" dirty="0"/>
          </a:p>
        </p:txBody>
      </p:sp>
      <p:sp>
        <p:nvSpPr>
          <p:cNvPr id="11" name="attack query"/>
          <p:cNvSpPr txBox="1"/>
          <p:nvPr/>
        </p:nvSpPr>
        <p:spPr>
          <a:xfrm>
            <a:off x="822960" y="4251960"/>
            <a:ext cx="3840480" cy="457200"/>
          </a:xfrm>
          <a:prstGeom prst="rect">
            <a:avLst/>
          </a:prstGeom>
          <a:noFill/>
          <a:ln/>
        </p:spPr>
        <p:txBody>
          <a:bodyPr wrap="square" lIns="0" tIns="0" rIns="0" bIns="0" rtlCol="0" anchor="t"/>
          <a:lstStyle/>
          <a:p>
            <a:pPr indent="0" marL="0">
              <a:buNone/>
            </a:pPr>
            <a:r>
              <a:rPr lang="en-US" sz="1800" dirty="0">
                <a:solidFill>
                  <a:schemeClr val="tx2"/>
                </a:solidFill>
                <a:latin typeface="Courier New" pitchFamily="34" charset="0"/>
                <a:ea typeface="Courier New" pitchFamily="34" charset="-122"/>
                <a:cs typeface="Courier New" pitchFamily="34" charset="-120"/>
              </a:rPr>
              <a:t>resource(id: 102)</a:t>
            </a:r>
            <a:endParaRPr lang="en-US" sz="1800" dirty="0"/>
          </a:p>
        </p:txBody>
      </p:sp>
      <p:sp>
        <p:nvSpPr>
          <p:cNvPr id="12" name="attack pill"/>
          <p:cNvSpPr/>
          <p:nvPr/>
        </p:nvSpPr>
        <p:spPr>
          <a:xfrm>
            <a:off x="5120640" y="4297680"/>
            <a:ext cx="1920240" cy="329184"/>
          </a:xfrm>
          <a:prstGeom prst="roundRect">
            <a:avLst>
              <a:gd name="adj" fmla="val 50000"/>
            </a:avLst>
          </a:prstGeom>
          <a:solidFill>
            <a:schemeClr val="accent3"/>
          </a:solidFill>
          <a:ln w="12700">
            <a:solidFill>
              <a:schemeClr val="accent3"/>
            </a:solidFill>
            <a:prstDash val="solid"/>
          </a:ln>
        </p:spPr>
      </p:sp>
      <p:sp>
        <p:nvSpPr>
          <p:cNvPr id="13" name="attack pill text"/>
          <p:cNvSpPr txBox="1"/>
          <p:nvPr/>
        </p:nvSpPr>
        <p:spPr>
          <a:xfrm>
            <a:off x="5120640" y="4297680"/>
            <a:ext cx="1920240" cy="329184"/>
          </a:xfrm>
          <a:prstGeom prst="rect">
            <a:avLst/>
          </a:prstGeom>
          <a:noFill/>
          <a:ln/>
        </p:spPr>
        <p:txBody>
          <a:bodyPr wrap="square" lIns="0" tIns="0" rIns="0" bIns="0" rtlCol="0" anchor="ctr"/>
          <a:lstStyle/>
          <a:p>
            <a:pPr algn="ctr" indent="0" marL="0">
              <a:buNone/>
            </a:pPr>
            <a:r>
              <a:rPr lang="en-US" sz="1200" b="1" dirty="0">
                <a:solidFill>
                  <a:schemeClr val="bg1"/>
                </a:solidFill>
              </a:rPr>
              <a:t>Kapilesh's data!</a:t>
            </a:r>
            <a:endParaRPr lang="en-US" sz="1200" dirty="0"/>
          </a:p>
        </p:txBody>
      </p:sp>
      <p:sp>
        <p:nvSpPr>
          <p:cNvPr id="14" name="attack note"/>
          <p:cNvSpPr txBox="1"/>
          <p:nvPr/>
        </p:nvSpPr>
        <p:spPr>
          <a:xfrm>
            <a:off x="822960" y="4754880"/>
            <a:ext cx="6217920" cy="365760"/>
          </a:xfrm>
          <a:prstGeom prst="rect">
            <a:avLst/>
          </a:prstGeom>
          <a:noFill/>
          <a:ln/>
        </p:spPr>
        <p:txBody>
          <a:bodyPr wrap="square" lIns="0" tIns="0" rIns="0" bIns="0" rtlCol="0" anchor="t"/>
          <a:lstStyle/>
          <a:p>
            <a:pPr indent="0" marL="0">
              <a:buNone/>
            </a:pPr>
            <a:r>
              <a:rPr lang="en-US" sz="1400" dirty="0">
                <a:solidFill>
                  <a:schemeClr val="accent5"/>
                </a:solidFill>
              </a:rPr>
              <a:t>An unprotected server returns it anyway</a:t>
            </a:r>
            <a:endParaRPr lang="en-US" sz="1400" dirty="0"/>
          </a:p>
        </p:txBody>
      </p:sp>
      <p:sp>
        <p:nvSpPr>
          <p:cNvPr id="15" name="stat number"/>
          <p:cNvSpPr txBox="1"/>
          <p:nvPr/>
        </p:nvSpPr>
        <p:spPr>
          <a:xfrm>
            <a:off x="8046720" y="1737360"/>
            <a:ext cx="3566160" cy="1463040"/>
          </a:xfrm>
          <a:prstGeom prst="rect">
            <a:avLst/>
          </a:prstGeom>
          <a:noFill/>
          <a:ln/>
        </p:spPr>
        <p:txBody>
          <a:bodyPr wrap="square" lIns="0" tIns="0" rIns="0" bIns="0" rtlCol="0" anchor="t"/>
          <a:lstStyle/>
          <a:p>
            <a:pPr algn="l" indent="0" marL="0">
              <a:buNone/>
            </a:pPr>
            <a:r>
              <a:rPr lang="en-US" sz="9600" b="1" dirty="0">
                <a:solidFill>
                  <a:schemeClr val="accent3"/>
                </a:solidFill>
                <a:latin typeface="Cambria" pitchFamily="34" charset="0"/>
                <a:ea typeface="Cambria" pitchFamily="34" charset="-122"/>
                <a:cs typeface="Cambria" pitchFamily="34" charset="-120"/>
              </a:rPr>
              <a:t>#1</a:t>
            </a:r>
            <a:endParaRPr lang="en-US" sz="9600" dirty="0"/>
          </a:p>
        </p:txBody>
      </p:sp>
      <p:sp>
        <p:nvSpPr>
          <p:cNvPr id="16" name="stat label"/>
          <p:cNvSpPr txBox="1"/>
          <p:nvPr/>
        </p:nvSpPr>
        <p:spPr>
          <a:xfrm>
            <a:off x="8046720" y="3246120"/>
            <a:ext cx="3566160" cy="822960"/>
          </a:xfrm>
          <a:prstGeom prst="rect">
            <a:avLst/>
          </a:prstGeom>
          <a:noFill/>
          <a:ln/>
        </p:spPr>
        <p:txBody>
          <a:bodyPr wrap="square" lIns="0" tIns="0" rIns="0" bIns="0" rtlCol="0" anchor="t"/>
          <a:lstStyle/>
          <a:p>
            <a:pPr indent="0" marL="0">
              <a:buNone/>
            </a:pPr>
            <a:r>
              <a:rPr lang="en-US" sz="1800" dirty="0">
                <a:solidFill>
                  <a:schemeClr val="tx1"/>
                </a:solidFill>
              </a:rPr>
              <a:t>API security risk in the OWASP API Security Top 10 (2023)</a:t>
            </a:r>
            <a:endParaRPr lang="en-US" sz="1800" dirty="0"/>
          </a:p>
        </p:txBody>
      </p:sp>
      <p:sp>
        <p:nvSpPr>
          <p:cNvPr id="17" name="stat why"/>
          <p:cNvSpPr txBox="1"/>
          <p:nvPr/>
        </p:nvSpPr>
        <p:spPr>
          <a:xfrm>
            <a:off x="8046720" y="4206240"/>
            <a:ext cx="3566160" cy="1097280"/>
          </a:xfrm>
          <a:prstGeom prst="rect">
            <a:avLst/>
          </a:prstGeom>
          <a:noFill/>
          <a:ln/>
        </p:spPr>
        <p:txBody>
          <a:bodyPr wrap="square" lIns="0" tIns="0" rIns="0" bIns="0" rtlCol="0" anchor="t"/>
          <a:lstStyle/>
          <a:p>
            <a:pPr indent="0" marL="0">
              <a:buNone/>
            </a:pPr>
            <a:r>
              <a:rPr lang="en-US" sz="1500" dirty="0">
                <a:solidFill>
                  <a:schemeClr val="accent5"/>
                </a:solidFill>
              </a:rPr>
              <a:t>Hard to spot: the attack looks like a normal, logged-in request. Only the owner of the object is different.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GraphQL gives attackers three ways to reach an object</a:t>
            </a:r>
            <a:endParaRPr lang="en-US" sz="3200" dirty="0"/>
          </a:p>
        </p:txBody>
      </p:sp>
      <p:sp>
        <p:nvSpPr>
          <p:cNvPr id="3" name="case 1 card"/>
          <p:cNvSpPr/>
          <p:nvPr/>
        </p:nvSpPr>
        <p:spPr>
          <a:xfrm>
            <a:off x="548640" y="1554480"/>
            <a:ext cx="3474720" cy="3840480"/>
          </a:xfrm>
          <a:prstGeom prst="roundRect">
            <a:avLst>
              <a:gd name="adj" fmla="val 3158"/>
            </a:avLst>
          </a:prstGeom>
          <a:solidFill>
            <a:schemeClr val="bg2"/>
          </a:solidFill>
          <a:ln w="12700">
            <a:solidFill>
              <a:schemeClr val="bg2"/>
            </a:solidFill>
            <a:prstDash val="solid"/>
          </a:ln>
        </p:spPr>
      </p:sp>
      <p:sp>
        <p:nvSpPr>
          <p:cNvPr id="4" name="case 1"/>
          <p:cNvSpPr/>
          <p:nvPr/>
        </p:nvSpPr>
        <p:spPr>
          <a:xfrm>
            <a:off x="822960" y="1783080"/>
            <a:ext cx="457200" cy="457200"/>
          </a:xfrm>
          <a:prstGeom prst="ellipse">
            <a:avLst/>
          </a:prstGeom>
          <a:solidFill>
            <a:schemeClr val="accent1"/>
          </a:solidFill>
          <a:ln w="12700">
            <a:solidFill>
              <a:schemeClr val="accent1"/>
            </a:solidFill>
            <a:prstDash val="solid"/>
          </a:ln>
        </p:spPr>
      </p:sp>
      <p:sp>
        <p:nvSpPr>
          <p:cNvPr id="5" name="case 1 label"/>
          <p:cNvSpPr txBox="1"/>
          <p:nvPr/>
        </p:nvSpPr>
        <p:spPr>
          <a:xfrm>
            <a:off x="82296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case 1 heading"/>
          <p:cNvSpPr txBox="1"/>
          <p:nvPr/>
        </p:nvSpPr>
        <p:spPr>
          <a:xfrm>
            <a:off x="1417320" y="1810512"/>
            <a:ext cx="2468880" cy="411480"/>
          </a:xfrm>
          <a:prstGeom prst="rect">
            <a:avLst/>
          </a:prstGeom>
          <a:noFill/>
          <a:ln/>
        </p:spPr>
        <p:txBody>
          <a:bodyPr wrap="square" lIns="0" tIns="0" rIns="0" bIns="0" rtlCol="0" anchor="ctr"/>
          <a:lstStyle/>
          <a:p>
            <a:pPr indent="0" marL="0">
              <a:buNone/>
            </a:pPr>
            <a:r>
              <a:rPr lang="en-US" sz="2000" b="1" dirty="0">
                <a:solidFill>
                  <a:schemeClr val="tx1"/>
                </a:solidFill>
              </a:rPr>
              <a:t>Direct</a:t>
            </a:r>
            <a:endParaRPr lang="en-US" sz="2000" dirty="0"/>
          </a:p>
        </p:txBody>
      </p:sp>
      <p:sp>
        <p:nvSpPr>
          <p:cNvPr id="7" name="case 1 code box"/>
          <p:cNvSpPr/>
          <p:nvPr/>
        </p:nvSpPr>
        <p:spPr>
          <a:xfrm>
            <a:off x="822960" y="2514600"/>
            <a:ext cx="2926080" cy="1005840"/>
          </a:xfrm>
          <a:prstGeom prst="roundRect">
            <a:avLst>
              <a:gd name="adj" fmla="val 7273"/>
            </a:avLst>
          </a:prstGeom>
          <a:solidFill>
            <a:schemeClr val="tx1"/>
          </a:solidFill>
          <a:ln w="12700">
            <a:solidFill>
              <a:schemeClr val="tx1"/>
            </a:solidFill>
            <a:prstDash val="solid"/>
          </a:ln>
        </p:spPr>
      </p:sp>
      <p:sp>
        <p:nvSpPr>
          <p:cNvPr id="8" name="case 1 code"/>
          <p:cNvSpPr txBox="1"/>
          <p:nvPr/>
        </p:nvSpPr>
        <p:spPr>
          <a:xfrm>
            <a:off x="960120" y="2560320"/>
            <a:ext cx="2697480" cy="914400"/>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resource(id: 102)</a:t>
            </a:r>
            <a:endParaRPr lang="en-US" sz="1400" dirty="0"/>
          </a:p>
        </p:txBody>
      </p:sp>
      <p:sp>
        <p:nvSpPr>
          <p:cNvPr id="9" name="case 1 text"/>
          <p:cNvSpPr txBox="1"/>
          <p:nvPr/>
        </p:nvSpPr>
        <p:spPr>
          <a:xfrm>
            <a:off x="822960" y="3703320"/>
            <a:ext cx="2926080" cy="822960"/>
          </a:xfrm>
          <a:prstGeom prst="rect">
            <a:avLst/>
          </a:prstGeom>
          <a:noFill/>
          <a:ln/>
        </p:spPr>
        <p:txBody>
          <a:bodyPr wrap="square" lIns="0" tIns="0" rIns="0" bIns="0" rtlCol="0" anchor="t"/>
          <a:lstStyle/>
          <a:p>
            <a:pPr indent="0" marL="0">
              <a:buNone/>
            </a:pPr>
            <a:r>
              <a:rPr lang="en-US" sz="1500" dirty="0">
                <a:solidFill>
                  <a:schemeClr val="tx1"/>
                </a:solidFill>
              </a:rPr>
              <a:t>The ID is written in the query.</a:t>
            </a:r>
            <a:endParaRPr lang="en-US" sz="1500" dirty="0"/>
          </a:p>
        </p:txBody>
      </p:sp>
      <p:sp>
        <p:nvSpPr>
          <p:cNvPr id="10" name="case 1 pill"/>
          <p:cNvSpPr/>
          <p:nvPr/>
        </p:nvSpPr>
        <p:spPr>
          <a:xfrm>
            <a:off x="822960" y="4800600"/>
            <a:ext cx="2377440" cy="329184"/>
          </a:xfrm>
          <a:prstGeom prst="roundRect">
            <a:avLst>
              <a:gd name="adj" fmla="val 50000"/>
            </a:avLst>
          </a:prstGeom>
          <a:solidFill>
            <a:schemeClr val="accent5"/>
          </a:solidFill>
          <a:ln w="12700">
            <a:solidFill>
              <a:schemeClr val="accent5"/>
            </a:solidFill>
            <a:prstDash val="solid"/>
          </a:ln>
        </p:spPr>
      </p:sp>
      <p:sp>
        <p:nvSpPr>
          <p:cNvPr id="11" name="case 1 pill text"/>
          <p:cNvSpPr txBox="1"/>
          <p:nvPr/>
        </p:nvSpPr>
        <p:spPr>
          <a:xfrm>
            <a:off x="822960" y="4800600"/>
            <a:ext cx="2377440" cy="329184"/>
          </a:xfrm>
          <a:prstGeom prst="rect">
            <a:avLst/>
          </a:prstGeom>
          <a:noFill/>
          <a:ln/>
        </p:spPr>
        <p:txBody>
          <a:bodyPr wrap="square" lIns="0" tIns="0" rIns="0" bIns="0" rtlCol="0" anchor="ctr"/>
          <a:lstStyle/>
          <a:p>
            <a:pPr algn="ctr" indent="0" marL="0">
              <a:buNone/>
            </a:pPr>
            <a:r>
              <a:rPr lang="en-US" sz="1200" b="1" dirty="0">
                <a:solidFill>
                  <a:schemeClr val="bg1"/>
                </a:solidFill>
              </a:rPr>
              <a:t>Easy to check</a:t>
            </a:r>
            <a:endParaRPr lang="en-US" sz="1200" dirty="0"/>
          </a:p>
        </p:txBody>
      </p:sp>
      <p:sp>
        <p:nvSpPr>
          <p:cNvPr id="12" name="case 2 card"/>
          <p:cNvSpPr/>
          <p:nvPr/>
        </p:nvSpPr>
        <p:spPr>
          <a:xfrm>
            <a:off x="4297680" y="1554480"/>
            <a:ext cx="3474720" cy="3840480"/>
          </a:xfrm>
          <a:prstGeom prst="roundRect">
            <a:avLst>
              <a:gd name="adj" fmla="val 3158"/>
            </a:avLst>
          </a:prstGeom>
          <a:solidFill>
            <a:schemeClr val="bg2"/>
          </a:solidFill>
          <a:ln w="12700">
            <a:solidFill>
              <a:schemeClr val="bg2"/>
            </a:solidFill>
            <a:prstDash val="solid"/>
          </a:ln>
        </p:spPr>
      </p:sp>
      <p:sp>
        <p:nvSpPr>
          <p:cNvPr id="13" name="case 2"/>
          <p:cNvSpPr/>
          <p:nvPr/>
        </p:nvSpPr>
        <p:spPr>
          <a:xfrm>
            <a:off x="4572000" y="1783080"/>
            <a:ext cx="457200" cy="457200"/>
          </a:xfrm>
          <a:prstGeom prst="ellipse">
            <a:avLst/>
          </a:prstGeom>
          <a:solidFill>
            <a:schemeClr val="accent1"/>
          </a:solidFill>
          <a:ln w="12700">
            <a:solidFill>
              <a:schemeClr val="accent1"/>
            </a:solidFill>
            <a:prstDash val="solid"/>
          </a:ln>
        </p:spPr>
      </p:sp>
      <p:sp>
        <p:nvSpPr>
          <p:cNvPr id="14" name="case 2 label"/>
          <p:cNvSpPr txBox="1"/>
          <p:nvPr/>
        </p:nvSpPr>
        <p:spPr>
          <a:xfrm>
            <a:off x="457200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case 2 heading"/>
          <p:cNvSpPr txBox="1"/>
          <p:nvPr/>
        </p:nvSpPr>
        <p:spPr>
          <a:xfrm>
            <a:off x="5166360" y="1810512"/>
            <a:ext cx="2468880" cy="411480"/>
          </a:xfrm>
          <a:prstGeom prst="rect">
            <a:avLst/>
          </a:prstGeom>
          <a:noFill/>
          <a:ln/>
        </p:spPr>
        <p:txBody>
          <a:bodyPr wrap="square" lIns="0" tIns="0" rIns="0" bIns="0" rtlCol="0" anchor="ctr"/>
          <a:lstStyle/>
          <a:p>
            <a:pPr indent="0" marL="0">
              <a:buNone/>
            </a:pPr>
            <a:r>
              <a:rPr lang="en-US" sz="2000" b="1" dirty="0">
                <a:solidFill>
                  <a:schemeClr val="tx1"/>
                </a:solidFill>
              </a:rPr>
              <a:t>Nested</a:t>
            </a:r>
            <a:endParaRPr lang="en-US" sz="2000" dirty="0"/>
          </a:p>
        </p:txBody>
      </p:sp>
      <p:sp>
        <p:nvSpPr>
          <p:cNvPr id="16" name="case 2 code box"/>
          <p:cNvSpPr/>
          <p:nvPr/>
        </p:nvSpPr>
        <p:spPr>
          <a:xfrm>
            <a:off x="4572000" y="2514600"/>
            <a:ext cx="2926080" cy="1005840"/>
          </a:xfrm>
          <a:prstGeom prst="roundRect">
            <a:avLst>
              <a:gd name="adj" fmla="val 7273"/>
            </a:avLst>
          </a:prstGeom>
          <a:solidFill>
            <a:schemeClr val="tx1"/>
          </a:solidFill>
          <a:ln w="12700">
            <a:solidFill>
              <a:schemeClr val="tx1"/>
            </a:solidFill>
            <a:prstDash val="solid"/>
          </a:ln>
        </p:spPr>
      </p:sp>
      <p:sp>
        <p:nvSpPr>
          <p:cNvPr id="17" name="case 2 code"/>
          <p:cNvSpPr txBox="1"/>
          <p:nvPr/>
        </p:nvSpPr>
        <p:spPr>
          <a:xfrm>
            <a:off x="4709160" y="2560320"/>
            <a:ext cx="2697480" cy="914400"/>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user(id: 101) {</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  resource(id: 102) }</a:t>
            </a:r>
            <a:endParaRPr lang="en-US" sz="1400" dirty="0"/>
          </a:p>
        </p:txBody>
      </p:sp>
      <p:sp>
        <p:nvSpPr>
          <p:cNvPr id="18" name="case 2 text"/>
          <p:cNvSpPr txBox="1"/>
          <p:nvPr/>
        </p:nvSpPr>
        <p:spPr>
          <a:xfrm>
            <a:off x="4572000" y="3703320"/>
            <a:ext cx="2926080" cy="822960"/>
          </a:xfrm>
          <a:prstGeom prst="rect">
            <a:avLst/>
          </a:prstGeom>
          <a:noFill/>
          <a:ln/>
        </p:spPr>
        <p:txBody>
          <a:bodyPr wrap="square" lIns="0" tIns="0" rIns="0" bIns="0" rtlCol="0" anchor="t"/>
          <a:lstStyle/>
          <a:p>
            <a:pPr indent="0" marL="0">
              <a:buNone/>
            </a:pPr>
            <a:r>
              <a:rPr lang="en-US" sz="1500" dirty="0">
                <a:solidFill>
                  <a:schemeClr val="tx1"/>
                </a:solidFill>
              </a:rPr>
              <a:t>The ID is hidden deeper inside another query.</a:t>
            </a:r>
            <a:endParaRPr lang="en-US" sz="1500" dirty="0"/>
          </a:p>
        </p:txBody>
      </p:sp>
      <p:sp>
        <p:nvSpPr>
          <p:cNvPr id="19" name="case 2 pill"/>
          <p:cNvSpPr/>
          <p:nvPr/>
        </p:nvSpPr>
        <p:spPr>
          <a:xfrm>
            <a:off x="4572000" y="4800600"/>
            <a:ext cx="2377440" cy="329184"/>
          </a:xfrm>
          <a:prstGeom prst="roundRect">
            <a:avLst>
              <a:gd name="adj" fmla="val 50000"/>
            </a:avLst>
          </a:prstGeom>
          <a:solidFill>
            <a:schemeClr val="accent5"/>
          </a:solidFill>
          <a:ln w="12700">
            <a:solidFill>
              <a:schemeClr val="accent5"/>
            </a:solidFill>
            <a:prstDash val="solid"/>
          </a:ln>
        </p:spPr>
      </p:sp>
      <p:sp>
        <p:nvSpPr>
          <p:cNvPr id="20" name="case 2 pill text"/>
          <p:cNvSpPr txBox="1"/>
          <p:nvPr/>
        </p:nvSpPr>
        <p:spPr>
          <a:xfrm>
            <a:off x="4572000" y="4800600"/>
            <a:ext cx="2377440" cy="329184"/>
          </a:xfrm>
          <a:prstGeom prst="rect">
            <a:avLst/>
          </a:prstGeom>
          <a:noFill/>
          <a:ln/>
        </p:spPr>
        <p:txBody>
          <a:bodyPr wrap="square" lIns="0" tIns="0" rIns="0" bIns="0" rtlCol="0" anchor="ctr"/>
          <a:lstStyle/>
          <a:p>
            <a:pPr algn="ctr" indent="0" marL="0">
              <a:buNone/>
            </a:pPr>
            <a:r>
              <a:rPr lang="en-US" sz="1200" b="1" dirty="0">
                <a:solidFill>
                  <a:schemeClr val="bg1"/>
                </a:solidFill>
              </a:rPr>
              <a:t>Needs a full scan</a:t>
            </a:r>
            <a:endParaRPr lang="en-US" sz="1200" dirty="0"/>
          </a:p>
        </p:txBody>
      </p:sp>
      <p:sp>
        <p:nvSpPr>
          <p:cNvPr id="21" name="case 3 card"/>
          <p:cNvSpPr/>
          <p:nvPr/>
        </p:nvSpPr>
        <p:spPr>
          <a:xfrm>
            <a:off x="8046720" y="1554480"/>
            <a:ext cx="3474720" cy="3840480"/>
          </a:xfrm>
          <a:prstGeom prst="roundRect">
            <a:avLst>
              <a:gd name="adj" fmla="val 3158"/>
            </a:avLst>
          </a:prstGeom>
          <a:solidFill>
            <a:schemeClr val="bg2"/>
          </a:solidFill>
          <a:ln w="12700">
            <a:solidFill>
              <a:schemeClr val="bg2"/>
            </a:solidFill>
            <a:prstDash val="solid"/>
          </a:ln>
        </p:spPr>
      </p:sp>
      <p:sp>
        <p:nvSpPr>
          <p:cNvPr id="22" name="case 3"/>
          <p:cNvSpPr/>
          <p:nvPr/>
        </p:nvSpPr>
        <p:spPr>
          <a:xfrm>
            <a:off x="8321040" y="1783080"/>
            <a:ext cx="457200" cy="457200"/>
          </a:xfrm>
          <a:prstGeom prst="ellipse">
            <a:avLst/>
          </a:prstGeom>
          <a:solidFill>
            <a:schemeClr val="accent3"/>
          </a:solidFill>
          <a:ln w="12700">
            <a:solidFill>
              <a:schemeClr val="accent3"/>
            </a:solidFill>
            <a:prstDash val="solid"/>
          </a:ln>
        </p:spPr>
      </p:sp>
      <p:sp>
        <p:nvSpPr>
          <p:cNvPr id="23" name="case 3 label"/>
          <p:cNvSpPr txBox="1"/>
          <p:nvPr/>
        </p:nvSpPr>
        <p:spPr>
          <a:xfrm>
            <a:off x="83210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case 3 heading"/>
          <p:cNvSpPr txBox="1"/>
          <p:nvPr/>
        </p:nvSpPr>
        <p:spPr>
          <a:xfrm>
            <a:off x="8915400" y="1810512"/>
            <a:ext cx="2468880" cy="411480"/>
          </a:xfrm>
          <a:prstGeom prst="rect">
            <a:avLst/>
          </a:prstGeom>
          <a:noFill/>
          <a:ln/>
        </p:spPr>
        <p:txBody>
          <a:bodyPr wrap="square" lIns="0" tIns="0" rIns="0" bIns="0" rtlCol="0" anchor="ctr"/>
          <a:lstStyle/>
          <a:p>
            <a:pPr indent="0" marL="0">
              <a:buNone/>
            </a:pPr>
            <a:r>
              <a:rPr lang="en-US" sz="2000" b="1" dirty="0">
                <a:solidFill>
                  <a:schemeClr val="tx1"/>
                </a:solidFill>
              </a:rPr>
              <a:t>Through a relationship</a:t>
            </a:r>
            <a:endParaRPr lang="en-US" sz="2000" dirty="0"/>
          </a:p>
        </p:txBody>
      </p:sp>
      <p:sp>
        <p:nvSpPr>
          <p:cNvPr id="25" name="case 3 code box"/>
          <p:cNvSpPr/>
          <p:nvPr/>
        </p:nvSpPr>
        <p:spPr>
          <a:xfrm>
            <a:off x="8321040" y="2514600"/>
            <a:ext cx="2926080" cy="1005840"/>
          </a:xfrm>
          <a:prstGeom prst="roundRect">
            <a:avLst>
              <a:gd name="adj" fmla="val 7273"/>
            </a:avLst>
          </a:prstGeom>
          <a:solidFill>
            <a:schemeClr val="tx1"/>
          </a:solidFill>
          <a:ln w="12700">
            <a:solidFill>
              <a:schemeClr val="tx1"/>
            </a:solidFill>
            <a:prstDash val="solid"/>
          </a:ln>
        </p:spPr>
      </p:sp>
      <p:sp>
        <p:nvSpPr>
          <p:cNvPr id="26" name="case 3 code"/>
          <p:cNvSpPr txBox="1"/>
          <p:nvPr/>
        </p:nvSpPr>
        <p:spPr>
          <a:xfrm>
            <a:off x="8458200" y="2560320"/>
            <a:ext cx="2697480" cy="914400"/>
          </a:xfrm>
          <a:prstGeom prst="rect">
            <a:avLst/>
          </a:prstGeom>
          <a:noFill/>
          <a:ln/>
        </p:spPr>
        <p:txBody>
          <a:bodyPr wrap="square" lIns="0" tIns="0" rIns="0" bIns="0" rtlCol="0" anchor="ctr"/>
          <a:lstStyle/>
          <a:p>
            <a:pPr indent="0" marL="0">
              <a:buNone/>
            </a:pPr>
            <a:r>
              <a:rPr lang="en-US" sz="1400" dirty="0">
                <a:solidFill>
                  <a:schemeClr val="accent6"/>
                </a:solidFill>
                <a:latin typeface="Courier New" pitchFamily="34" charset="0"/>
                <a:ea typeface="Courier New" pitchFamily="34" charset="-122"/>
                <a:cs typeface="Courier New" pitchFamily="34" charset="-120"/>
              </a:rPr>
              <a:t>resource(id: 201) {</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  children { … } }</a:t>
            </a:r>
            <a:endParaRPr lang="en-US" sz="1400" dirty="0"/>
          </a:p>
        </p:txBody>
      </p:sp>
      <p:sp>
        <p:nvSpPr>
          <p:cNvPr id="27" name="case 3 text"/>
          <p:cNvSpPr txBox="1"/>
          <p:nvPr/>
        </p:nvSpPr>
        <p:spPr>
          <a:xfrm>
            <a:off x="8321040" y="3703320"/>
            <a:ext cx="2926080" cy="822960"/>
          </a:xfrm>
          <a:prstGeom prst="rect">
            <a:avLst/>
          </a:prstGeom>
          <a:noFill/>
          <a:ln/>
        </p:spPr>
        <p:txBody>
          <a:bodyPr wrap="square" lIns="0" tIns="0" rIns="0" bIns="0" rtlCol="0" anchor="t"/>
          <a:lstStyle/>
          <a:p>
            <a:pPr indent="0" marL="0">
              <a:buNone/>
            </a:pPr>
            <a:r>
              <a:rPr lang="en-US" sz="1500" dirty="0">
                <a:solidFill>
                  <a:schemeClr val="tx1"/>
                </a:solidFill>
              </a:rPr>
              <a:t>Objects inside a folder. Their IDs are never written.</a:t>
            </a:r>
            <a:endParaRPr lang="en-US" sz="1500" dirty="0"/>
          </a:p>
        </p:txBody>
      </p:sp>
      <p:sp>
        <p:nvSpPr>
          <p:cNvPr id="28" name="case 3 pill"/>
          <p:cNvSpPr/>
          <p:nvPr/>
        </p:nvSpPr>
        <p:spPr>
          <a:xfrm>
            <a:off x="8321040" y="4800600"/>
            <a:ext cx="2377440" cy="329184"/>
          </a:xfrm>
          <a:prstGeom prst="roundRect">
            <a:avLst>
              <a:gd name="adj" fmla="val 50000"/>
            </a:avLst>
          </a:prstGeom>
          <a:solidFill>
            <a:schemeClr val="accent3"/>
          </a:solidFill>
          <a:ln w="12700">
            <a:solidFill>
              <a:schemeClr val="accent3"/>
            </a:solidFill>
            <a:prstDash val="solid"/>
          </a:ln>
        </p:spPr>
      </p:sp>
      <p:sp>
        <p:nvSpPr>
          <p:cNvPr id="29" name="case 3 pill text"/>
          <p:cNvSpPr txBox="1"/>
          <p:nvPr/>
        </p:nvSpPr>
        <p:spPr>
          <a:xfrm>
            <a:off x="8321040" y="4800600"/>
            <a:ext cx="2377440" cy="329184"/>
          </a:xfrm>
          <a:prstGeom prst="rect">
            <a:avLst/>
          </a:prstGeom>
          <a:noFill/>
          <a:ln/>
        </p:spPr>
        <p:txBody>
          <a:bodyPr wrap="square" lIns="0" tIns="0" rIns="0" bIns="0" rtlCol="0" anchor="ctr"/>
          <a:lstStyle/>
          <a:p>
            <a:pPr algn="ctr" indent="0" marL="0">
              <a:buNone/>
            </a:pPr>
            <a:r>
              <a:rPr lang="en-US" sz="1200" b="1" dirty="0">
                <a:solidFill>
                  <a:schemeClr val="bg1"/>
                </a:solidFill>
              </a:rPr>
              <a:t>Invisible to ID checks</a:t>
            </a:r>
            <a:endParaRPr lang="en-US" sz="1200" dirty="0"/>
          </a:p>
        </p:txBody>
      </p:sp>
      <p:sp>
        <p:nvSpPr>
          <p:cNvPr id="30" name="takeaway"/>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b="1" dirty="0">
                <a:solidFill>
                  <a:schemeClr val="tx2"/>
                </a:solidFill>
              </a:rPr>
              <a:t>A check that only reads the IDs in the query misses case 3. That is why we need a second layer.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Our solution: two independent security layers</a:t>
            </a:r>
            <a:endParaRPr lang="en-US" sz="3200" dirty="0"/>
          </a:p>
        </p:txBody>
      </p:sp>
      <p:sp>
        <p:nvSpPr>
          <p:cNvPr id="3" name="layer 1 card"/>
          <p:cNvSpPr/>
          <p:nvPr/>
        </p:nvSpPr>
        <p:spPr>
          <a:xfrm>
            <a:off x="548640" y="1554480"/>
            <a:ext cx="5440680" cy="3566160"/>
          </a:xfrm>
          <a:prstGeom prst="roundRect">
            <a:avLst>
              <a:gd name="adj" fmla="val 3077"/>
            </a:avLst>
          </a:prstGeom>
          <a:solidFill>
            <a:schemeClr val="bg2"/>
          </a:solidFill>
          <a:ln w="12700">
            <a:solidFill>
              <a:schemeClr val="bg2"/>
            </a:solidFill>
            <a:prstDash val="solid"/>
          </a:ln>
        </p:spPr>
      </p:sp>
      <p:sp>
        <p:nvSpPr>
          <p:cNvPr id="4" name="layer 1"/>
          <p:cNvSpPr/>
          <p:nvPr/>
        </p:nvSpPr>
        <p:spPr>
          <a:xfrm>
            <a:off x="868680" y="1783080"/>
            <a:ext cx="548640" cy="548640"/>
          </a:xfrm>
          <a:prstGeom prst="ellipse">
            <a:avLst/>
          </a:prstGeom>
          <a:solidFill>
            <a:schemeClr val="accent1"/>
          </a:solidFill>
          <a:ln w="12700">
            <a:solidFill>
              <a:schemeClr val="accent1"/>
            </a:solidFill>
            <a:prstDash val="solid"/>
          </a:ln>
        </p:spPr>
      </p:sp>
      <p:sp>
        <p:nvSpPr>
          <p:cNvPr id="5" name="layer 1 label"/>
          <p:cNvSpPr txBox="1"/>
          <p:nvPr/>
        </p:nvSpPr>
        <p:spPr>
          <a:xfrm>
            <a:off x="868680"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layer 1 heading"/>
          <p:cNvSpPr txBox="1"/>
          <p:nvPr/>
        </p:nvSpPr>
        <p:spPr>
          <a:xfrm>
            <a:off x="1600200" y="1783080"/>
            <a:ext cx="4206240" cy="548640"/>
          </a:xfrm>
          <a:prstGeom prst="rect">
            <a:avLst/>
          </a:prstGeom>
          <a:noFill/>
          <a:ln/>
        </p:spPr>
        <p:txBody>
          <a:bodyPr wrap="square" lIns="0" tIns="0" rIns="0" bIns="0" rtlCol="0" anchor="ctr"/>
          <a:lstStyle/>
          <a:p>
            <a:pPr indent="0" marL="0">
              <a:buNone/>
            </a:pPr>
            <a:r>
              <a:rPr lang="en-US" sz="2100" b="1" dirty="0">
                <a:solidFill>
                  <a:schemeClr val="tx1"/>
                </a:solidFill>
              </a:rPr>
              <a:t>Layer 1: guard at the door</a:t>
            </a:r>
            <a:endParaRPr lang="en-US" sz="2100" dirty="0"/>
          </a:p>
        </p:txBody>
      </p:sp>
      <p:sp>
        <p:nvSpPr>
          <p:cNvPr id="7" name="layer 1 when"/>
          <p:cNvSpPr txBox="1"/>
          <p:nvPr/>
        </p:nvSpPr>
        <p:spPr>
          <a:xfrm>
            <a:off x="1600200" y="2331720"/>
            <a:ext cx="4206240" cy="320040"/>
          </a:xfrm>
          <a:prstGeom prst="rect">
            <a:avLst/>
          </a:prstGeom>
          <a:noFill/>
          <a:ln/>
        </p:spPr>
        <p:txBody>
          <a:bodyPr wrap="square" lIns="0" tIns="0" rIns="0" bIns="0" rtlCol="0" anchor="t"/>
          <a:lstStyle/>
          <a:p>
            <a:pPr indent="0" marL="0">
              <a:buNone/>
            </a:pPr>
            <a:r>
              <a:rPr lang="en-US" sz="1400" dirty="0">
                <a:solidFill>
                  <a:schemeClr val="accent5"/>
                </a:solidFill>
              </a:rPr>
              <a:t>Before the query runs</a:t>
            </a:r>
            <a:endParaRPr lang="en-US" sz="1400" dirty="0"/>
          </a:p>
        </p:txBody>
      </p:sp>
      <p:sp>
        <p:nvSpPr>
          <p:cNvPr id="8" name="layer 1 points"/>
          <p:cNvSpPr txBox="1"/>
          <p:nvPr/>
        </p:nvSpPr>
        <p:spPr>
          <a:xfrm>
            <a:off x="868680" y="2834640"/>
            <a:ext cx="48463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Reads the query and finds every object ID, at any depth</a:t>
            </a:r>
            <a:endParaRPr lang="en-US" sz="1600" dirty="0"/>
          </a:p>
          <a:p>
            <a:pPr marL="342900" indent="-342900">
              <a:spcAft>
                <a:spcPts val="800"/>
              </a:spcAft>
              <a:buSzPct val="100000"/>
              <a:buChar char="•"/>
            </a:pPr>
            <a:r>
              <a:rPr lang="en-US" sz="1600" dirty="0">
                <a:solidFill>
                  <a:schemeClr val="tx1"/>
                </a:solidFill>
              </a:rPr>
              <a:t>Looks up the real owner in the database</a:t>
            </a:r>
            <a:endParaRPr lang="en-US" sz="1600" dirty="0"/>
          </a:p>
          <a:p>
            <a:pPr marL="342900" indent="-342900">
              <a:spcAft>
                <a:spcPts val="800"/>
              </a:spcAft>
              <a:buSzPct val="100000"/>
              <a:buChar char="•"/>
            </a:pPr>
            <a:r>
              <a:rPr lang="en-US" sz="1600" dirty="0">
                <a:solidFill>
                  <a:schemeClr val="tx1"/>
                </a:solidFill>
              </a:rPr>
              <a:t>Not yours? The whole request is rejected (HTTP 403) and nothing runs</a:t>
            </a:r>
            <a:endParaRPr lang="en-US" sz="1600" dirty="0"/>
          </a:p>
        </p:txBody>
      </p:sp>
      <p:sp>
        <p:nvSpPr>
          <p:cNvPr id="9" name="layer 2 card"/>
          <p:cNvSpPr/>
          <p:nvPr/>
        </p:nvSpPr>
        <p:spPr>
          <a:xfrm>
            <a:off x="6172200" y="1554480"/>
            <a:ext cx="5440680" cy="3566160"/>
          </a:xfrm>
          <a:prstGeom prst="roundRect">
            <a:avLst>
              <a:gd name="adj" fmla="val 3077"/>
            </a:avLst>
          </a:prstGeom>
          <a:solidFill>
            <a:schemeClr val="bg2"/>
          </a:solidFill>
          <a:ln w="12700">
            <a:solidFill>
              <a:schemeClr val="bg2"/>
            </a:solidFill>
            <a:prstDash val="solid"/>
          </a:ln>
        </p:spPr>
      </p:sp>
      <p:sp>
        <p:nvSpPr>
          <p:cNvPr id="10" name="layer 2"/>
          <p:cNvSpPr/>
          <p:nvPr/>
        </p:nvSpPr>
        <p:spPr>
          <a:xfrm>
            <a:off x="6492240" y="1783080"/>
            <a:ext cx="548640" cy="548640"/>
          </a:xfrm>
          <a:prstGeom prst="ellipse">
            <a:avLst/>
          </a:prstGeom>
          <a:solidFill>
            <a:schemeClr val="tx2"/>
          </a:solidFill>
          <a:ln w="12700">
            <a:solidFill>
              <a:schemeClr val="tx2"/>
            </a:solidFill>
            <a:prstDash val="solid"/>
          </a:ln>
        </p:spPr>
      </p:sp>
      <p:sp>
        <p:nvSpPr>
          <p:cNvPr id="11" name="layer 2 label"/>
          <p:cNvSpPr txBox="1"/>
          <p:nvPr/>
        </p:nvSpPr>
        <p:spPr>
          <a:xfrm>
            <a:off x="6492240" y="17830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layer 2 heading"/>
          <p:cNvSpPr txBox="1"/>
          <p:nvPr/>
        </p:nvSpPr>
        <p:spPr>
          <a:xfrm>
            <a:off x="7223760" y="1783080"/>
            <a:ext cx="4206240" cy="548640"/>
          </a:xfrm>
          <a:prstGeom prst="rect">
            <a:avLst/>
          </a:prstGeom>
          <a:noFill/>
          <a:ln/>
        </p:spPr>
        <p:txBody>
          <a:bodyPr wrap="square" lIns="0" tIns="0" rIns="0" bIns="0" rtlCol="0" anchor="ctr"/>
          <a:lstStyle/>
          <a:p>
            <a:pPr indent="0" marL="0">
              <a:buNone/>
            </a:pPr>
            <a:r>
              <a:rPr lang="en-US" sz="2100" b="1" dirty="0">
                <a:solidFill>
                  <a:schemeClr val="tx1"/>
                </a:solidFill>
              </a:rPr>
              <a:t>Layer 2: cashier at the counter</a:t>
            </a:r>
            <a:endParaRPr lang="en-US" sz="2100" dirty="0"/>
          </a:p>
        </p:txBody>
      </p:sp>
      <p:sp>
        <p:nvSpPr>
          <p:cNvPr id="13" name="layer 2 when"/>
          <p:cNvSpPr txBox="1"/>
          <p:nvPr/>
        </p:nvSpPr>
        <p:spPr>
          <a:xfrm>
            <a:off x="7223760" y="2331720"/>
            <a:ext cx="4206240" cy="320040"/>
          </a:xfrm>
          <a:prstGeom prst="rect">
            <a:avLst/>
          </a:prstGeom>
          <a:noFill/>
          <a:ln/>
        </p:spPr>
        <p:txBody>
          <a:bodyPr wrap="square" lIns="0" tIns="0" rIns="0" bIns="0" rtlCol="0" anchor="t"/>
          <a:lstStyle/>
          <a:p>
            <a:pPr indent="0" marL="0">
              <a:buNone/>
            </a:pPr>
            <a:r>
              <a:rPr lang="en-US" sz="1400" dirty="0">
                <a:solidFill>
                  <a:schemeClr val="accent5"/>
                </a:solidFill>
              </a:rPr>
              <a:t>While the query runs</a:t>
            </a:r>
            <a:endParaRPr lang="en-US" sz="1400" dirty="0"/>
          </a:p>
        </p:txBody>
      </p:sp>
      <p:sp>
        <p:nvSpPr>
          <p:cNvPr id="14" name="layer 2 points"/>
          <p:cNvSpPr txBox="1"/>
          <p:nvPr/>
        </p:nvSpPr>
        <p:spPr>
          <a:xfrm>
            <a:off x="6492240" y="2834640"/>
            <a:ext cx="48463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Checks every object actually being returned</a:t>
            </a:r>
            <a:endParaRPr lang="en-US" sz="1600" dirty="0"/>
          </a:p>
          <a:p>
            <a:pPr marL="342900" indent="-342900">
              <a:spcAft>
                <a:spcPts val="800"/>
              </a:spcAft>
              <a:buSzPct val="100000"/>
              <a:buChar char="•"/>
            </a:pPr>
            <a:r>
              <a:rPr lang="en-US" sz="1600" dirty="0">
                <a:solidFill>
                  <a:schemeClr val="tx1"/>
                </a:solidFill>
              </a:rPr>
              <a:t>Checks the target of every change before it happens</a:t>
            </a:r>
            <a:endParaRPr lang="en-US" sz="1600" dirty="0"/>
          </a:p>
          <a:p>
            <a:pPr marL="342900" indent="-342900">
              <a:spcAft>
                <a:spcPts val="800"/>
              </a:spcAft>
              <a:buSzPct val="100000"/>
              <a:buChar char="•"/>
            </a:pPr>
            <a:r>
              <a:rPr lang="en-US" sz="1600" dirty="0">
                <a:solidFill>
                  <a:schemeClr val="tx1"/>
                </a:solidFill>
              </a:rPr>
              <a:t>Foreign objects are removed; foreign changes are blocked</a:t>
            </a:r>
            <a:endParaRPr lang="en-US" sz="1600" dirty="0"/>
          </a:p>
        </p:txBody>
      </p:sp>
      <p:sp>
        <p:nvSpPr>
          <p:cNvPr id="15" name="extra card"/>
          <p:cNvSpPr/>
          <p:nvPr/>
        </p:nvSpPr>
        <p:spPr>
          <a:xfrm>
            <a:off x="548640" y="5349240"/>
            <a:ext cx="11064240" cy="777240"/>
          </a:xfrm>
          <a:prstGeom prst="roundRect">
            <a:avLst>
              <a:gd name="adj" fmla="val 14118"/>
            </a:avLst>
          </a:prstGeom>
          <a:solidFill>
            <a:schemeClr val="tx1"/>
          </a:solidFill>
          <a:ln w="12700">
            <a:solidFill>
              <a:schemeClr val="tx1"/>
            </a:solidFill>
            <a:prstDash val="solid"/>
          </a:ln>
        </p:spPr>
      </p:sp>
      <p:sp>
        <p:nvSpPr>
          <p:cNvPr id="16" name="extra text"/>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500" dirty="0">
                <a:solidFill>
                  <a:schemeClr val="bg1"/>
                </a:solidFill>
              </a:rPr>
              <a:t>Plus: every decision is written to an audit log, and a machine-learning model learns where Layer 1 is blind. The model only warns; it never blocks.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How one request flows through GraphQL-Shield</a:t>
            </a:r>
            <a:endParaRPr lang="en-US" sz="3200" dirty="0"/>
          </a:p>
        </p:txBody>
      </p:sp>
      <p:sp>
        <p:nvSpPr>
          <p:cNvPr id="3" name="step 1"/>
          <p:cNvSpPr/>
          <p:nvPr/>
        </p:nvSpPr>
        <p:spPr>
          <a:xfrm>
            <a:off x="548640" y="1783080"/>
            <a:ext cx="1965960" cy="1737360"/>
          </a:xfrm>
          <a:prstGeom prst="roundRect">
            <a:avLst>
              <a:gd name="adj" fmla="val 6316"/>
            </a:avLst>
          </a:prstGeom>
          <a:solidFill>
            <a:schemeClr val="bg2"/>
          </a:solidFill>
          <a:ln w="12700">
            <a:solidFill>
              <a:schemeClr val="bg2"/>
            </a:solidFill>
            <a:prstDash val="solid"/>
          </a:ln>
        </p:spPr>
      </p:sp>
      <p:sp>
        <p:nvSpPr>
          <p:cNvPr id="4" name="step 1 heading"/>
          <p:cNvSpPr txBox="1"/>
          <p:nvPr/>
        </p:nvSpPr>
        <p:spPr>
          <a:xfrm>
            <a:off x="685800" y="1965960"/>
            <a:ext cx="1691640" cy="411480"/>
          </a:xfrm>
          <a:prstGeom prst="rect">
            <a:avLst/>
          </a:prstGeom>
          <a:noFill/>
          <a:ln/>
        </p:spPr>
        <p:txBody>
          <a:bodyPr wrap="square" lIns="0" tIns="0" rIns="0" bIns="0" rtlCol="0" anchor="t"/>
          <a:lstStyle/>
          <a:p>
            <a:pPr indent="0" marL="0">
              <a:buNone/>
            </a:pPr>
            <a:r>
              <a:rPr lang="en-US" sz="1700" b="1" dirty="0">
                <a:solidFill>
                  <a:schemeClr val="tx1"/>
                </a:solidFill>
              </a:rPr>
              <a:t>1. Login</a:t>
            </a:r>
            <a:endParaRPr lang="en-US" sz="1700" dirty="0"/>
          </a:p>
        </p:txBody>
      </p:sp>
      <p:sp>
        <p:nvSpPr>
          <p:cNvPr id="5" name="step 1 text"/>
          <p:cNvSpPr txBox="1"/>
          <p:nvPr/>
        </p:nvSpPr>
        <p:spPr>
          <a:xfrm>
            <a:off x="685800" y="2468880"/>
            <a:ext cx="1691640" cy="960120"/>
          </a:xfrm>
          <a:prstGeom prst="rect">
            <a:avLst/>
          </a:prstGeom>
          <a:noFill/>
          <a:ln/>
        </p:spPr>
        <p:txBody>
          <a:bodyPr wrap="square" lIns="0" tIns="0" rIns="0" bIns="0" rtlCol="0" anchor="t"/>
          <a:lstStyle/>
          <a:p>
            <a:pPr indent="0" marL="0">
              <a:buNone/>
            </a:pPr>
            <a:r>
              <a:rPr lang="en-US" sz="1400" dirty="0">
                <a:solidFill>
                  <a:schemeClr val="tx1"/>
                </a:solidFill>
              </a:rPr>
              <a:t>Password checked; user gets a token (ID card)</a:t>
            </a:r>
            <a:endParaRPr lang="en-US" sz="1400" dirty="0"/>
          </a:p>
        </p:txBody>
      </p:sp>
      <p:sp>
        <p:nvSpPr>
          <p:cNvPr id="6" name="arrow 1"/>
          <p:cNvSpPr/>
          <p:nvPr/>
        </p:nvSpPr>
        <p:spPr>
          <a:xfrm>
            <a:off x="2542032" y="2651760"/>
            <a:ext cx="256032" cy="0"/>
          </a:xfrm>
          <a:prstGeom prst="line">
            <a:avLst/>
          </a:prstGeom>
          <a:noFill/>
          <a:ln w="22225">
            <a:solidFill>
              <a:schemeClr val="accent5"/>
            </a:solidFill>
            <a:prstDash val="solid"/>
            <a:tailEnd type="triangle"/>
          </a:ln>
        </p:spPr>
      </p:sp>
      <p:sp>
        <p:nvSpPr>
          <p:cNvPr id="7" name="step 2"/>
          <p:cNvSpPr/>
          <p:nvPr/>
        </p:nvSpPr>
        <p:spPr>
          <a:xfrm>
            <a:off x="2825496" y="1783080"/>
            <a:ext cx="1965960" cy="1737360"/>
          </a:xfrm>
          <a:prstGeom prst="roundRect">
            <a:avLst>
              <a:gd name="adj" fmla="val 6316"/>
            </a:avLst>
          </a:prstGeom>
          <a:solidFill>
            <a:schemeClr val="bg2"/>
          </a:solidFill>
          <a:ln w="12700">
            <a:solidFill>
              <a:schemeClr val="bg2"/>
            </a:solidFill>
            <a:prstDash val="solid"/>
          </a:ln>
        </p:spPr>
      </p:sp>
      <p:sp>
        <p:nvSpPr>
          <p:cNvPr id="8" name="step 2 heading"/>
          <p:cNvSpPr txBox="1"/>
          <p:nvPr/>
        </p:nvSpPr>
        <p:spPr>
          <a:xfrm>
            <a:off x="2962656" y="1965960"/>
            <a:ext cx="1691640" cy="411480"/>
          </a:xfrm>
          <a:prstGeom prst="rect">
            <a:avLst/>
          </a:prstGeom>
          <a:noFill/>
          <a:ln/>
        </p:spPr>
        <p:txBody>
          <a:bodyPr wrap="square" lIns="0" tIns="0" rIns="0" bIns="0" rtlCol="0" anchor="t"/>
          <a:lstStyle/>
          <a:p>
            <a:pPr indent="0" marL="0">
              <a:buNone/>
            </a:pPr>
            <a:r>
              <a:rPr lang="en-US" sz="1700" b="1" dirty="0">
                <a:solidFill>
                  <a:schemeClr val="tx1"/>
                </a:solidFill>
              </a:rPr>
              <a:t>2. Token check</a:t>
            </a:r>
            <a:endParaRPr lang="en-US" sz="1700" dirty="0"/>
          </a:p>
        </p:txBody>
      </p:sp>
      <p:sp>
        <p:nvSpPr>
          <p:cNvPr id="9" name="step 2 text"/>
          <p:cNvSpPr txBox="1"/>
          <p:nvPr/>
        </p:nvSpPr>
        <p:spPr>
          <a:xfrm>
            <a:off x="2962656" y="2468880"/>
            <a:ext cx="1691640" cy="960120"/>
          </a:xfrm>
          <a:prstGeom prst="rect">
            <a:avLst/>
          </a:prstGeom>
          <a:noFill/>
          <a:ln/>
        </p:spPr>
        <p:txBody>
          <a:bodyPr wrap="square" lIns="0" tIns="0" rIns="0" bIns="0" rtlCol="0" anchor="t"/>
          <a:lstStyle/>
          <a:p>
            <a:pPr indent="0" marL="0">
              <a:buNone/>
            </a:pPr>
            <a:r>
              <a:rPr lang="en-US" sz="1400" dirty="0">
                <a:solidFill>
                  <a:schemeClr val="tx1"/>
                </a:solidFill>
              </a:rPr>
              <a:t>Who is this? User ID and role</a:t>
            </a:r>
            <a:endParaRPr lang="en-US" sz="1400" dirty="0"/>
          </a:p>
        </p:txBody>
      </p:sp>
      <p:sp>
        <p:nvSpPr>
          <p:cNvPr id="10" name="arrow 2"/>
          <p:cNvSpPr/>
          <p:nvPr/>
        </p:nvSpPr>
        <p:spPr>
          <a:xfrm>
            <a:off x="4818888" y="2651760"/>
            <a:ext cx="256032" cy="0"/>
          </a:xfrm>
          <a:prstGeom prst="line">
            <a:avLst/>
          </a:prstGeom>
          <a:noFill/>
          <a:ln w="22225">
            <a:solidFill>
              <a:schemeClr val="accent5"/>
            </a:solidFill>
            <a:prstDash val="solid"/>
            <a:tailEnd type="triangle"/>
          </a:ln>
        </p:spPr>
      </p:sp>
      <p:sp>
        <p:nvSpPr>
          <p:cNvPr id="11" name="step 3"/>
          <p:cNvSpPr/>
          <p:nvPr/>
        </p:nvSpPr>
        <p:spPr>
          <a:xfrm>
            <a:off x="5102352" y="1783080"/>
            <a:ext cx="1965960" cy="1737360"/>
          </a:xfrm>
          <a:prstGeom prst="roundRect">
            <a:avLst>
              <a:gd name="adj" fmla="val 6316"/>
            </a:avLst>
          </a:prstGeom>
          <a:solidFill>
            <a:schemeClr val="accent1"/>
          </a:solidFill>
          <a:ln w="12700">
            <a:solidFill>
              <a:schemeClr val="accent1"/>
            </a:solidFill>
            <a:prstDash val="solid"/>
          </a:ln>
        </p:spPr>
      </p:sp>
      <p:sp>
        <p:nvSpPr>
          <p:cNvPr id="12" name="step 3 heading"/>
          <p:cNvSpPr txBox="1"/>
          <p:nvPr/>
        </p:nvSpPr>
        <p:spPr>
          <a:xfrm>
            <a:off x="5239512" y="1965960"/>
            <a:ext cx="1691640" cy="411480"/>
          </a:xfrm>
          <a:prstGeom prst="rect">
            <a:avLst/>
          </a:prstGeom>
          <a:noFill/>
          <a:ln/>
        </p:spPr>
        <p:txBody>
          <a:bodyPr wrap="square" lIns="0" tIns="0" rIns="0" bIns="0" rtlCol="0" anchor="t"/>
          <a:lstStyle/>
          <a:p>
            <a:pPr indent="0" marL="0">
              <a:buNone/>
            </a:pPr>
            <a:r>
              <a:rPr lang="en-US" sz="1700" b="1" dirty="0">
                <a:solidFill>
                  <a:schemeClr val="bg1"/>
                </a:solidFill>
              </a:rPr>
              <a:t>3. Layer 1</a:t>
            </a:r>
            <a:endParaRPr lang="en-US" sz="1700" dirty="0"/>
          </a:p>
        </p:txBody>
      </p:sp>
      <p:sp>
        <p:nvSpPr>
          <p:cNvPr id="13" name="step 3 text"/>
          <p:cNvSpPr txBox="1"/>
          <p:nvPr/>
        </p:nvSpPr>
        <p:spPr>
          <a:xfrm>
            <a:off x="5239512" y="2468880"/>
            <a:ext cx="1691640" cy="960120"/>
          </a:xfrm>
          <a:prstGeom prst="rect">
            <a:avLst/>
          </a:prstGeom>
          <a:noFill/>
          <a:ln/>
        </p:spPr>
        <p:txBody>
          <a:bodyPr wrap="square" lIns="0" tIns="0" rIns="0" bIns="0" rtlCol="0" anchor="t"/>
          <a:lstStyle/>
          <a:p>
            <a:pPr indent="0" marL="0">
              <a:buNone/>
            </a:pPr>
            <a:r>
              <a:rPr lang="en-US" sz="1400" dirty="0">
                <a:solidFill>
                  <a:schemeClr val="bg1"/>
                </a:solidFill>
              </a:rPr>
              <a:t>Every ID in the query: is it yours?</a:t>
            </a:r>
            <a:endParaRPr lang="en-US" sz="1400" dirty="0"/>
          </a:p>
        </p:txBody>
      </p:sp>
      <p:sp>
        <p:nvSpPr>
          <p:cNvPr id="14" name="arrow 3"/>
          <p:cNvSpPr/>
          <p:nvPr/>
        </p:nvSpPr>
        <p:spPr>
          <a:xfrm>
            <a:off x="7095744" y="2651760"/>
            <a:ext cx="256032" cy="0"/>
          </a:xfrm>
          <a:prstGeom prst="line">
            <a:avLst/>
          </a:prstGeom>
          <a:noFill/>
          <a:ln w="22225">
            <a:solidFill>
              <a:schemeClr val="accent5"/>
            </a:solidFill>
            <a:prstDash val="solid"/>
            <a:tailEnd type="triangle"/>
          </a:ln>
        </p:spPr>
      </p:sp>
      <p:sp>
        <p:nvSpPr>
          <p:cNvPr id="15" name="step 4"/>
          <p:cNvSpPr/>
          <p:nvPr/>
        </p:nvSpPr>
        <p:spPr>
          <a:xfrm>
            <a:off x="7379208" y="1783080"/>
            <a:ext cx="1965960" cy="1737360"/>
          </a:xfrm>
          <a:prstGeom prst="roundRect">
            <a:avLst>
              <a:gd name="adj" fmla="val 6316"/>
            </a:avLst>
          </a:prstGeom>
          <a:solidFill>
            <a:schemeClr val="accent1"/>
          </a:solidFill>
          <a:ln w="12700">
            <a:solidFill>
              <a:schemeClr val="accent1"/>
            </a:solidFill>
            <a:prstDash val="solid"/>
          </a:ln>
        </p:spPr>
      </p:sp>
      <p:sp>
        <p:nvSpPr>
          <p:cNvPr id="16" name="step 4 heading"/>
          <p:cNvSpPr txBox="1"/>
          <p:nvPr/>
        </p:nvSpPr>
        <p:spPr>
          <a:xfrm>
            <a:off x="7516368" y="1965960"/>
            <a:ext cx="1691640" cy="411480"/>
          </a:xfrm>
          <a:prstGeom prst="rect">
            <a:avLst/>
          </a:prstGeom>
          <a:noFill/>
          <a:ln/>
        </p:spPr>
        <p:txBody>
          <a:bodyPr wrap="square" lIns="0" tIns="0" rIns="0" bIns="0" rtlCol="0" anchor="t"/>
          <a:lstStyle/>
          <a:p>
            <a:pPr indent="0" marL="0">
              <a:buNone/>
            </a:pPr>
            <a:r>
              <a:rPr lang="en-US" sz="1700" b="1" dirty="0">
                <a:solidFill>
                  <a:schemeClr val="bg1"/>
                </a:solidFill>
              </a:rPr>
              <a:t>4. Engine + Layer 2</a:t>
            </a:r>
            <a:endParaRPr lang="en-US" sz="1700" dirty="0"/>
          </a:p>
        </p:txBody>
      </p:sp>
      <p:sp>
        <p:nvSpPr>
          <p:cNvPr id="17" name="step 4 text"/>
          <p:cNvSpPr txBox="1"/>
          <p:nvPr/>
        </p:nvSpPr>
        <p:spPr>
          <a:xfrm>
            <a:off x="7516368" y="2468880"/>
            <a:ext cx="1691640" cy="960120"/>
          </a:xfrm>
          <a:prstGeom prst="rect">
            <a:avLst/>
          </a:prstGeom>
          <a:noFill/>
          <a:ln/>
        </p:spPr>
        <p:txBody>
          <a:bodyPr wrap="square" lIns="0" tIns="0" rIns="0" bIns="0" rtlCol="0" anchor="t"/>
          <a:lstStyle/>
          <a:p>
            <a:pPr indent="0" marL="0">
              <a:buNone/>
            </a:pPr>
            <a:r>
              <a:rPr lang="en-US" sz="1400" dirty="0">
                <a:solidFill>
                  <a:schemeClr val="bg1"/>
                </a:solidFill>
              </a:rPr>
              <a:t>Query runs; each object checked</a:t>
            </a:r>
            <a:endParaRPr lang="en-US" sz="1400" dirty="0"/>
          </a:p>
        </p:txBody>
      </p:sp>
      <p:sp>
        <p:nvSpPr>
          <p:cNvPr id="18" name="arrow 4"/>
          <p:cNvSpPr/>
          <p:nvPr/>
        </p:nvSpPr>
        <p:spPr>
          <a:xfrm>
            <a:off x="9372600" y="2651760"/>
            <a:ext cx="256032" cy="0"/>
          </a:xfrm>
          <a:prstGeom prst="line">
            <a:avLst/>
          </a:prstGeom>
          <a:noFill/>
          <a:ln w="22225">
            <a:solidFill>
              <a:schemeClr val="accent5"/>
            </a:solidFill>
            <a:prstDash val="solid"/>
            <a:tailEnd type="triangle"/>
          </a:ln>
        </p:spPr>
      </p:sp>
      <p:sp>
        <p:nvSpPr>
          <p:cNvPr id="19" name="step 5"/>
          <p:cNvSpPr/>
          <p:nvPr/>
        </p:nvSpPr>
        <p:spPr>
          <a:xfrm>
            <a:off x="9656064" y="1783080"/>
            <a:ext cx="1965960" cy="1737360"/>
          </a:xfrm>
          <a:prstGeom prst="roundRect">
            <a:avLst>
              <a:gd name="adj" fmla="val 6316"/>
            </a:avLst>
          </a:prstGeom>
          <a:solidFill>
            <a:schemeClr val="bg2"/>
          </a:solidFill>
          <a:ln w="12700">
            <a:solidFill>
              <a:schemeClr val="bg2"/>
            </a:solidFill>
            <a:prstDash val="solid"/>
          </a:ln>
        </p:spPr>
      </p:sp>
      <p:sp>
        <p:nvSpPr>
          <p:cNvPr id="20" name="step 5 heading"/>
          <p:cNvSpPr txBox="1"/>
          <p:nvPr/>
        </p:nvSpPr>
        <p:spPr>
          <a:xfrm>
            <a:off x="9793224" y="1965960"/>
            <a:ext cx="1691640" cy="411480"/>
          </a:xfrm>
          <a:prstGeom prst="rect">
            <a:avLst/>
          </a:prstGeom>
          <a:noFill/>
          <a:ln/>
        </p:spPr>
        <p:txBody>
          <a:bodyPr wrap="square" lIns="0" tIns="0" rIns="0" bIns="0" rtlCol="0" anchor="t"/>
          <a:lstStyle/>
          <a:p>
            <a:pPr indent="0" marL="0">
              <a:buNone/>
            </a:pPr>
            <a:r>
              <a:rPr lang="en-US" sz="1700" b="1" dirty="0">
                <a:solidFill>
                  <a:schemeClr val="tx1"/>
                </a:solidFill>
              </a:rPr>
              <a:t>5. Response</a:t>
            </a:r>
            <a:endParaRPr lang="en-US" sz="1700" dirty="0"/>
          </a:p>
        </p:txBody>
      </p:sp>
      <p:sp>
        <p:nvSpPr>
          <p:cNvPr id="21" name="step 5 text"/>
          <p:cNvSpPr txBox="1"/>
          <p:nvPr/>
        </p:nvSpPr>
        <p:spPr>
          <a:xfrm>
            <a:off x="9793224" y="2468880"/>
            <a:ext cx="1691640" cy="960120"/>
          </a:xfrm>
          <a:prstGeom prst="rect">
            <a:avLst/>
          </a:prstGeom>
          <a:noFill/>
          <a:ln/>
        </p:spPr>
        <p:txBody>
          <a:bodyPr wrap="square" lIns="0" tIns="0" rIns="0" bIns="0" rtlCol="0" anchor="t"/>
          <a:lstStyle/>
          <a:p>
            <a:pPr indent="0" marL="0">
              <a:buNone/>
            </a:pPr>
            <a:r>
              <a:rPr lang="en-US" sz="1400" dirty="0">
                <a:solidFill>
                  <a:schemeClr val="tx1"/>
                </a:solidFill>
              </a:rPr>
              <a:t>Only the user's own data</a:t>
            </a:r>
            <a:endParaRPr lang="en-US" sz="1400" dirty="0"/>
          </a:p>
        </p:txBody>
      </p:sp>
      <p:sp>
        <p:nvSpPr>
          <p:cNvPr id="22" name="reject arrow"/>
          <p:cNvSpPr/>
          <p:nvPr/>
        </p:nvSpPr>
        <p:spPr>
          <a:xfrm>
            <a:off x="6085332" y="3566160"/>
            <a:ext cx="0" cy="502920"/>
          </a:xfrm>
          <a:prstGeom prst="line">
            <a:avLst/>
          </a:prstGeom>
          <a:noFill/>
          <a:ln w="22225">
            <a:solidFill>
              <a:schemeClr val="accent3"/>
            </a:solidFill>
            <a:prstDash val="solid"/>
            <a:tailEnd type="triangle"/>
          </a:ln>
        </p:spPr>
      </p:sp>
      <p:sp>
        <p:nvSpPr>
          <p:cNvPr id="23" name="reject pill"/>
          <p:cNvSpPr/>
          <p:nvPr/>
        </p:nvSpPr>
        <p:spPr>
          <a:xfrm>
            <a:off x="5148072" y="4114800"/>
            <a:ext cx="1874520" cy="329184"/>
          </a:xfrm>
          <a:prstGeom prst="roundRect">
            <a:avLst>
              <a:gd name="adj" fmla="val 50000"/>
            </a:avLst>
          </a:prstGeom>
          <a:solidFill>
            <a:schemeClr val="accent3"/>
          </a:solidFill>
          <a:ln w="12700">
            <a:solidFill>
              <a:schemeClr val="accent3"/>
            </a:solidFill>
            <a:prstDash val="solid"/>
          </a:ln>
        </p:spPr>
      </p:sp>
      <p:sp>
        <p:nvSpPr>
          <p:cNvPr id="24" name="reject pill text"/>
          <p:cNvSpPr txBox="1"/>
          <p:nvPr/>
        </p:nvSpPr>
        <p:spPr>
          <a:xfrm>
            <a:off x="5148072" y="4114800"/>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Not yours: 403, stop</a:t>
            </a:r>
            <a:endParaRPr lang="en-US" sz="1200" dirty="0"/>
          </a:p>
        </p:txBody>
      </p:sp>
      <p:sp>
        <p:nvSpPr>
          <p:cNvPr id="25" name="filter arrow"/>
          <p:cNvSpPr/>
          <p:nvPr/>
        </p:nvSpPr>
        <p:spPr>
          <a:xfrm>
            <a:off x="8362188" y="3566160"/>
            <a:ext cx="0" cy="502920"/>
          </a:xfrm>
          <a:prstGeom prst="line">
            <a:avLst/>
          </a:prstGeom>
          <a:noFill/>
          <a:ln w="22225">
            <a:solidFill>
              <a:schemeClr val="accent4"/>
            </a:solidFill>
            <a:prstDash val="solid"/>
            <a:tailEnd type="triangle"/>
          </a:ln>
        </p:spPr>
      </p:sp>
      <p:sp>
        <p:nvSpPr>
          <p:cNvPr id="26" name="filter pill"/>
          <p:cNvSpPr/>
          <p:nvPr/>
        </p:nvSpPr>
        <p:spPr>
          <a:xfrm>
            <a:off x="7424928" y="4114800"/>
            <a:ext cx="1874520" cy="329184"/>
          </a:xfrm>
          <a:prstGeom prst="roundRect">
            <a:avLst>
              <a:gd name="adj" fmla="val 50000"/>
            </a:avLst>
          </a:prstGeom>
          <a:solidFill>
            <a:schemeClr val="accent4"/>
          </a:solidFill>
          <a:ln w="12700">
            <a:solidFill>
              <a:schemeClr val="accent4"/>
            </a:solidFill>
            <a:prstDash val="solid"/>
          </a:ln>
        </p:spPr>
      </p:sp>
      <p:sp>
        <p:nvSpPr>
          <p:cNvPr id="27" name="filter pill text"/>
          <p:cNvSpPr txBox="1"/>
          <p:nvPr/>
        </p:nvSpPr>
        <p:spPr>
          <a:xfrm>
            <a:off x="7424928" y="4114800"/>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Foreign item removed</a:t>
            </a:r>
            <a:endParaRPr lang="en-US" sz="1200" dirty="0"/>
          </a:p>
        </p:txBody>
      </p:sp>
      <p:sp>
        <p:nvSpPr>
          <p:cNvPr id="28" name="audit card"/>
          <p:cNvSpPr/>
          <p:nvPr/>
        </p:nvSpPr>
        <p:spPr>
          <a:xfrm>
            <a:off x="548640" y="5074920"/>
            <a:ext cx="11064240" cy="1005840"/>
          </a:xfrm>
          <a:prstGeom prst="roundRect">
            <a:avLst>
              <a:gd name="adj" fmla="val 10909"/>
            </a:avLst>
          </a:prstGeom>
          <a:solidFill>
            <a:schemeClr val="tx1"/>
          </a:solidFill>
          <a:ln w="12700">
            <a:solidFill>
              <a:schemeClr val="tx1"/>
            </a:solidFill>
            <a:prstDash val="solid"/>
          </a:ln>
        </p:spPr>
      </p:sp>
      <p:sp>
        <p:nvSpPr>
          <p:cNvPr id="29" name="audit heading"/>
          <p:cNvSpPr txBox="1"/>
          <p:nvPr/>
        </p:nvSpPr>
        <p:spPr>
          <a:xfrm>
            <a:off x="822960" y="5166360"/>
            <a:ext cx="2011680" cy="822960"/>
          </a:xfrm>
          <a:prstGeom prst="rect">
            <a:avLst/>
          </a:prstGeom>
          <a:noFill/>
          <a:ln/>
        </p:spPr>
        <p:txBody>
          <a:bodyPr wrap="square" lIns="0" tIns="0" rIns="0" bIns="0" rtlCol="0" anchor="ctr"/>
          <a:lstStyle/>
          <a:p>
            <a:pPr indent="0" marL="0">
              <a:buNone/>
            </a:pPr>
            <a:r>
              <a:rPr lang="en-US" sz="1800" b="1" dirty="0">
                <a:solidFill>
                  <a:schemeClr val="accent6"/>
                </a:solidFill>
              </a:rPr>
              <a:t>Audit log</a:t>
            </a:r>
            <a:endParaRPr lang="en-US" sz="1800" dirty="0"/>
          </a:p>
        </p:txBody>
      </p:sp>
      <p:sp>
        <p:nvSpPr>
          <p:cNvPr id="30" name="audit text"/>
          <p:cNvSpPr txBox="1"/>
          <p:nvPr/>
        </p:nvSpPr>
        <p:spPr>
          <a:xfrm>
            <a:off x="2743200" y="5166360"/>
            <a:ext cx="8686800" cy="822960"/>
          </a:xfrm>
          <a:prstGeom prst="rect">
            <a:avLst/>
          </a:prstGeom>
          <a:noFill/>
          <a:ln/>
        </p:spPr>
        <p:txBody>
          <a:bodyPr wrap="square" lIns="0" tIns="0" rIns="0" bIns="0" rtlCol="0" anchor="ctr"/>
          <a:lstStyle/>
          <a:p>
            <a:pPr indent="0" marL="0">
              <a:buNone/>
            </a:pPr>
            <a:r>
              <a:rPr lang="en-US" sz="1500" dirty="0">
                <a:solidFill>
                  <a:schemeClr val="bg1"/>
                </a:solidFill>
              </a:rPr>
              <a:t>Every decision is saved: who asked, which object, allowed or denied, why, and which layer decided. The dashboard shows this log live.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Example: Layer 1 can't see it, Layer 2 catches it</a:t>
            </a:r>
            <a:endParaRPr lang="en-US" sz="3200" dirty="0"/>
          </a:p>
        </p:txBody>
      </p:sp>
      <p:sp>
        <p:nvSpPr>
          <p:cNvPr id="3" name="who"/>
          <p:cNvSpPr txBox="1"/>
          <p:nvPr/>
        </p:nvSpPr>
        <p:spPr>
          <a:xfrm>
            <a:off x="548640" y="14173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Balanilavan (user 101) asks for his own folder 201 and everything inside it</a:t>
            </a:r>
            <a:endParaRPr lang="en-US" sz="1600" dirty="0"/>
          </a:p>
        </p:txBody>
      </p:sp>
      <p:sp>
        <p:nvSpPr>
          <p:cNvPr id="4" name="query box"/>
          <p:cNvSpPr/>
          <p:nvPr/>
        </p:nvSpPr>
        <p:spPr>
          <a:xfrm>
            <a:off x="548640" y="2011680"/>
            <a:ext cx="3291840" cy="1371600"/>
          </a:xfrm>
          <a:prstGeom prst="roundRect">
            <a:avLst>
              <a:gd name="adj" fmla="val 6667"/>
            </a:avLst>
          </a:prstGeom>
          <a:solidFill>
            <a:schemeClr val="tx1"/>
          </a:solidFill>
          <a:ln w="12700">
            <a:solidFill>
              <a:schemeClr val="tx1"/>
            </a:solidFill>
            <a:prstDash val="solid"/>
          </a:ln>
        </p:spPr>
      </p:sp>
      <p:sp>
        <p:nvSpPr>
          <p:cNvPr id="5" name="query"/>
          <p:cNvSpPr txBox="1"/>
          <p:nvPr/>
        </p:nvSpPr>
        <p:spPr>
          <a:xfrm>
            <a:off x="731520" y="2057400"/>
            <a:ext cx="3017520" cy="1280160"/>
          </a:xfrm>
          <a:prstGeom prst="rect">
            <a:avLst/>
          </a:prstGeom>
          <a:noFill/>
          <a:ln/>
        </p:spPr>
        <p:txBody>
          <a:bodyPr wrap="square" lIns="0" tIns="0" rIns="0" bIns="0" rtlCol="0" anchor="ctr"/>
          <a:lstStyle/>
          <a:p>
            <a:pPr indent="0" marL="0">
              <a:buNone/>
            </a:pPr>
            <a:r>
              <a:rPr lang="en-US" sz="1500" dirty="0">
                <a:solidFill>
                  <a:schemeClr val="accent6"/>
                </a:solidFill>
                <a:latin typeface="Courier New" pitchFamily="34" charset="0"/>
                <a:ea typeface="Courier New" pitchFamily="34" charset="-122"/>
                <a:cs typeface="Courier New" pitchFamily="34" charset="-120"/>
              </a:rPr>
              <a:t>resource(id: 201) {</a:t>
            </a:r>
            <a:endParaRPr lang="en-US" sz="1500" dirty="0"/>
          </a:p>
          <a:p>
            <a:pPr indent="0" marL="0">
              <a:buNone/>
            </a:pPr>
            <a:r>
              <a:rPr lang="en-US" sz="1500" dirty="0">
                <a:solidFill>
                  <a:schemeClr val="accent6"/>
                </a:solidFill>
                <a:latin typeface="Courier New" pitchFamily="34" charset="0"/>
                <a:ea typeface="Courier New" pitchFamily="34" charset="-122"/>
                <a:cs typeface="Courier New" pitchFamily="34" charset="-120"/>
              </a:rPr>
              <a:t>  children { name }</a:t>
            </a:r>
            <a:endParaRPr lang="en-US" sz="1500" dirty="0"/>
          </a:p>
          <a:p>
            <a:pPr indent="0" marL="0">
              <a:buNone/>
            </a:pPr>
            <a:r>
              <a:rPr lang="en-US" sz="1500" dirty="0">
                <a:solidFill>
                  <a:schemeClr val="accent6"/>
                </a:solidFill>
                <a:latin typeface="Courier New" pitchFamily="34" charset="0"/>
                <a:ea typeface="Courier New" pitchFamily="34" charset="-122"/>
                <a:cs typeface="Courier New" pitchFamily="34" charset="-120"/>
              </a:rPr>
              <a:t>}</a:t>
            </a:r>
            <a:endParaRPr lang="en-US" sz="1500" dirty="0"/>
          </a:p>
        </p:txBody>
      </p:sp>
      <p:sp>
        <p:nvSpPr>
          <p:cNvPr id="6" name="to layer 1"/>
          <p:cNvSpPr/>
          <p:nvPr/>
        </p:nvSpPr>
        <p:spPr>
          <a:xfrm>
            <a:off x="3931920" y="2697480"/>
            <a:ext cx="457200" cy="0"/>
          </a:xfrm>
          <a:prstGeom prst="line">
            <a:avLst/>
          </a:prstGeom>
          <a:noFill/>
          <a:ln w="22225">
            <a:solidFill>
              <a:schemeClr val="accent5"/>
            </a:solidFill>
            <a:prstDash val="solid"/>
            <a:tailEnd type="triangle"/>
          </a:ln>
        </p:spPr>
      </p:sp>
      <p:sp>
        <p:nvSpPr>
          <p:cNvPr id="7" name="layer 1 box"/>
          <p:cNvSpPr/>
          <p:nvPr/>
        </p:nvSpPr>
        <p:spPr>
          <a:xfrm>
            <a:off x="4480560" y="2011680"/>
            <a:ext cx="3017520" cy="1371600"/>
          </a:xfrm>
          <a:prstGeom prst="roundRect">
            <a:avLst>
              <a:gd name="adj" fmla="val 8000"/>
            </a:avLst>
          </a:prstGeom>
          <a:solidFill>
            <a:schemeClr val="bg2"/>
          </a:solidFill>
          <a:ln w="12700">
            <a:solidFill>
              <a:schemeClr val="bg2"/>
            </a:solidFill>
            <a:prstDash val="solid"/>
          </a:ln>
        </p:spPr>
      </p:sp>
      <p:sp>
        <p:nvSpPr>
          <p:cNvPr id="8" name="layer 1 heading"/>
          <p:cNvSpPr txBox="1"/>
          <p:nvPr/>
        </p:nvSpPr>
        <p:spPr>
          <a:xfrm>
            <a:off x="4663440" y="2103120"/>
            <a:ext cx="2651760" cy="365760"/>
          </a:xfrm>
          <a:prstGeom prst="rect">
            <a:avLst/>
          </a:prstGeom>
          <a:noFill/>
          <a:ln/>
        </p:spPr>
        <p:txBody>
          <a:bodyPr wrap="square" lIns="0" tIns="0" rIns="0" bIns="0" rtlCol="0" anchor="t"/>
          <a:lstStyle/>
          <a:p>
            <a:pPr indent="0" marL="0">
              <a:buNone/>
            </a:pPr>
            <a:r>
              <a:rPr lang="en-US" sz="1700" b="1" dirty="0">
                <a:solidFill>
                  <a:schemeClr val="tx1"/>
                </a:solidFill>
              </a:rPr>
              <a:t>Layer 1</a:t>
            </a:r>
            <a:endParaRPr lang="en-US" sz="1700" dirty="0"/>
          </a:p>
        </p:txBody>
      </p:sp>
      <p:sp>
        <p:nvSpPr>
          <p:cNvPr id="9" name="layer 1 text"/>
          <p:cNvSpPr txBox="1"/>
          <p:nvPr/>
        </p:nvSpPr>
        <p:spPr>
          <a:xfrm>
            <a:off x="4663440" y="2468880"/>
            <a:ext cx="2651760" cy="868680"/>
          </a:xfrm>
          <a:prstGeom prst="rect">
            <a:avLst/>
          </a:prstGeom>
          <a:noFill/>
          <a:ln/>
        </p:spPr>
        <p:txBody>
          <a:bodyPr wrap="square" lIns="0" tIns="0" rIns="0" bIns="0" rtlCol="0" anchor="t"/>
          <a:lstStyle/>
          <a:p>
            <a:pPr indent="0" marL="0">
              <a:buNone/>
            </a:pPr>
            <a:r>
              <a:rPr lang="en-US" sz="1400" dirty="0">
                <a:solidFill>
                  <a:schemeClr val="tx1"/>
                </a:solidFill>
              </a:rPr>
              <a:t>Sees only ID 201, which is his. Allowed. It cannot see what is inside.</a:t>
            </a:r>
            <a:endParaRPr lang="en-US" sz="1400" dirty="0"/>
          </a:p>
        </p:txBody>
      </p:sp>
      <p:sp>
        <p:nvSpPr>
          <p:cNvPr id="10" name="to layer 2"/>
          <p:cNvSpPr/>
          <p:nvPr/>
        </p:nvSpPr>
        <p:spPr>
          <a:xfrm>
            <a:off x="7589520" y="2697480"/>
            <a:ext cx="457200" cy="0"/>
          </a:xfrm>
          <a:prstGeom prst="line">
            <a:avLst/>
          </a:prstGeom>
          <a:noFill/>
          <a:ln w="22225">
            <a:solidFill>
              <a:schemeClr val="accent5"/>
            </a:solidFill>
            <a:prstDash val="solid"/>
            <a:tailEnd type="triangle"/>
          </a:ln>
        </p:spPr>
      </p:sp>
      <p:sp>
        <p:nvSpPr>
          <p:cNvPr id="11" name="layer 2 box"/>
          <p:cNvSpPr/>
          <p:nvPr/>
        </p:nvSpPr>
        <p:spPr>
          <a:xfrm>
            <a:off x="8138160" y="2011680"/>
            <a:ext cx="3474720" cy="1371600"/>
          </a:xfrm>
          <a:prstGeom prst="roundRect">
            <a:avLst>
              <a:gd name="adj" fmla="val 8000"/>
            </a:avLst>
          </a:prstGeom>
          <a:solidFill>
            <a:schemeClr val="accent1"/>
          </a:solidFill>
          <a:ln w="12700">
            <a:solidFill>
              <a:schemeClr val="accent1"/>
            </a:solidFill>
            <a:prstDash val="solid"/>
          </a:ln>
        </p:spPr>
      </p:sp>
      <p:sp>
        <p:nvSpPr>
          <p:cNvPr id="12" name="layer 2 heading"/>
          <p:cNvSpPr txBox="1"/>
          <p:nvPr/>
        </p:nvSpPr>
        <p:spPr>
          <a:xfrm>
            <a:off x="8321040" y="2103120"/>
            <a:ext cx="3108960" cy="365760"/>
          </a:xfrm>
          <a:prstGeom prst="rect">
            <a:avLst/>
          </a:prstGeom>
          <a:noFill/>
          <a:ln/>
        </p:spPr>
        <p:txBody>
          <a:bodyPr wrap="square" lIns="0" tIns="0" rIns="0" bIns="0" rtlCol="0" anchor="t"/>
          <a:lstStyle/>
          <a:p>
            <a:pPr indent="0" marL="0">
              <a:buNone/>
            </a:pPr>
            <a:r>
              <a:rPr lang="en-US" sz="1700" b="1" dirty="0">
                <a:solidFill>
                  <a:schemeClr val="bg1"/>
                </a:solidFill>
              </a:rPr>
              <a:t>Layer 2</a:t>
            </a:r>
            <a:endParaRPr lang="en-US" sz="1700" dirty="0"/>
          </a:p>
        </p:txBody>
      </p:sp>
      <p:sp>
        <p:nvSpPr>
          <p:cNvPr id="13" name="layer 2 text"/>
          <p:cNvSpPr txBox="1"/>
          <p:nvPr/>
        </p:nvSpPr>
        <p:spPr>
          <a:xfrm>
            <a:off x="8321040" y="2468880"/>
            <a:ext cx="3108960" cy="868680"/>
          </a:xfrm>
          <a:prstGeom prst="rect">
            <a:avLst/>
          </a:prstGeom>
          <a:noFill/>
          <a:ln/>
        </p:spPr>
        <p:txBody>
          <a:bodyPr wrap="square" lIns="0" tIns="0" rIns="0" bIns="0" rtlCol="0" anchor="t"/>
          <a:lstStyle/>
          <a:p>
            <a:pPr indent="0" marL="0">
              <a:buNone/>
            </a:pPr>
            <a:r>
              <a:rPr lang="en-US" sz="1400" dirty="0">
                <a:solidFill>
                  <a:schemeClr val="bg1"/>
                </a:solidFill>
              </a:rPr>
              <a:t>Checks each document as it comes back</a:t>
            </a:r>
            <a:endParaRPr lang="en-US" sz="1400" dirty="0"/>
          </a:p>
        </p:txBody>
      </p:sp>
      <p:sp>
        <p:nvSpPr>
          <p:cNvPr id="14" name="doc 202"/>
          <p:cNvSpPr/>
          <p:nvPr/>
        </p:nvSpPr>
        <p:spPr>
          <a:xfrm>
            <a:off x="548640" y="3749040"/>
            <a:ext cx="3474720" cy="1234440"/>
          </a:xfrm>
          <a:prstGeom prst="roundRect">
            <a:avLst>
              <a:gd name="adj" fmla="val 8889"/>
            </a:avLst>
          </a:prstGeom>
          <a:solidFill>
            <a:schemeClr val="bg2"/>
          </a:solidFill>
          <a:ln w="12700">
            <a:solidFill>
              <a:schemeClr val="bg2"/>
            </a:solidFill>
            <a:prstDash val="solid"/>
          </a:ln>
        </p:spPr>
      </p:sp>
      <p:sp>
        <p:nvSpPr>
          <p:cNvPr id="15" name="doc 202 title"/>
          <p:cNvSpPr txBox="1"/>
          <p:nvPr/>
        </p:nvSpPr>
        <p:spPr>
          <a:xfrm>
            <a:off x="822960" y="3886200"/>
            <a:ext cx="1828800" cy="411480"/>
          </a:xfrm>
          <a:prstGeom prst="rect">
            <a:avLst/>
          </a:prstGeom>
          <a:noFill/>
          <a:ln/>
        </p:spPr>
        <p:txBody>
          <a:bodyPr wrap="square" lIns="0" tIns="0" rIns="0" bIns="0" rtlCol="0" anchor="t"/>
          <a:lstStyle/>
          <a:p>
            <a:pPr indent="0" marL="0">
              <a:buNone/>
            </a:pPr>
            <a:r>
              <a:rPr lang="en-US" sz="1800" b="1" dirty="0">
                <a:solidFill>
                  <a:schemeClr val="tx1"/>
                </a:solidFill>
              </a:rPr>
              <a:t>Document 202</a:t>
            </a:r>
            <a:endParaRPr lang="en-US" sz="1800" dirty="0"/>
          </a:p>
        </p:txBody>
      </p:sp>
      <p:sp>
        <p:nvSpPr>
          <p:cNvPr id="16" name="doc 202 owner"/>
          <p:cNvSpPr txBox="1"/>
          <p:nvPr/>
        </p:nvSpPr>
        <p:spPr>
          <a:xfrm>
            <a:off x="822960" y="4343400"/>
            <a:ext cx="2011680" cy="365760"/>
          </a:xfrm>
          <a:prstGeom prst="rect">
            <a:avLst/>
          </a:prstGeom>
          <a:noFill/>
          <a:ln/>
        </p:spPr>
        <p:txBody>
          <a:bodyPr wrap="square" lIns="0" tIns="0" rIns="0" bIns="0" rtlCol="0" anchor="t"/>
          <a:lstStyle/>
          <a:p>
            <a:pPr indent="0" marL="0">
              <a:buNone/>
            </a:pPr>
            <a:r>
              <a:rPr lang="en-US" sz="1400" dirty="0">
                <a:solidFill>
                  <a:schemeClr val="accent5"/>
                </a:solidFill>
              </a:rPr>
              <a:t>Owner: Balanilavan</a:t>
            </a:r>
            <a:endParaRPr lang="en-US" sz="1400" dirty="0"/>
          </a:p>
        </p:txBody>
      </p:sp>
      <p:sp>
        <p:nvSpPr>
          <p:cNvPr id="17" name="doc 202 result"/>
          <p:cNvSpPr/>
          <p:nvPr/>
        </p:nvSpPr>
        <p:spPr>
          <a:xfrm>
            <a:off x="2697480" y="3959352"/>
            <a:ext cx="1143000" cy="329184"/>
          </a:xfrm>
          <a:prstGeom prst="roundRect">
            <a:avLst>
              <a:gd name="adj" fmla="val 50000"/>
            </a:avLst>
          </a:prstGeom>
          <a:solidFill>
            <a:schemeClr val="accent2"/>
          </a:solidFill>
          <a:ln w="12700">
            <a:solidFill>
              <a:schemeClr val="accent2"/>
            </a:solidFill>
            <a:prstDash val="solid"/>
          </a:ln>
        </p:spPr>
      </p:sp>
      <p:sp>
        <p:nvSpPr>
          <p:cNvPr id="18" name="doc 202 result text"/>
          <p:cNvSpPr txBox="1"/>
          <p:nvPr/>
        </p:nvSpPr>
        <p:spPr>
          <a:xfrm>
            <a:off x="2697480" y="3959352"/>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Kept</a:t>
            </a:r>
            <a:endParaRPr lang="en-US" sz="1200" dirty="0"/>
          </a:p>
        </p:txBody>
      </p:sp>
      <p:sp>
        <p:nvSpPr>
          <p:cNvPr id="19" name="doc 203"/>
          <p:cNvSpPr/>
          <p:nvPr/>
        </p:nvSpPr>
        <p:spPr>
          <a:xfrm>
            <a:off x="4297680" y="3749040"/>
            <a:ext cx="3474720" cy="1234440"/>
          </a:xfrm>
          <a:prstGeom prst="roundRect">
            <a:avLst>
              <a:gd name="adj" fmla="val 8889"/>
            </a:avLst>
          </a:prstGeom>
          <a:solidFill>
            <a:schemeClr val="bg2"/>
          </a:solidFill>
          <a:ln w="12700">
            <a:solidFill>
              <a:schemeClr val="bg2"/>
            </a:solidFill>
            <a:prstDash val="solid"/>
          </a:ln>
        </p:spPr>
      </p:sp>
      <p:sp>
        <p:nvSpPr>
          <p:cNvPr id="20" name="doc 203 title"/>
          <p:cNvSpPr txBox="1"/>
          <p:nvPr/>
        </p:nvSpPr>
        <p:spPr>
          <a:xfrm>
            <a:off x="4572000" y="3886200"/>
            <a:ext cx="1828800" cy="411480"/>
          </a:xfrm>
          <a:prstGeom prst="rect">
            <a:avLst/>
          </a:prstGeom>
          <a:noFill/>
          <a:ln/>
        </p:spPr>
        <p:txBody>
          <a:bodyPr wrap="square" lIns="0" tIns="0" rIns="0" bIns="0" rtlCol="0" anchor="t"/>
          <a:lstStyle/>
          <a:p>
            <a:pPr indent="0" marL="0">
              <a:buNone/>
            </a:pPr>
            <a:r>
              <a:rPr lang="en-US" sz="1800" b="1" dirty="0">
                <a:solidFill>
                  <a:schemeClr val="tx1"/>
                </a:solidFill>
              </a:rPr>
              <a:t>Document 203</a:t>
            </a:r>
            <a:endParaRPr lang="en-US" sz="1800" dirty="0"/>
          </a:p>
        </p:txBody>
      </p:sp>
      <p:sp>
        <p:nvSpPr>
          <p:cNvPr id="21" name="doc 203 owner"/>
          <p:cNvSpPr txBox="1"/>
          <p:nvPr/>
        </p:nvSpPr>
        <p:spPr>
          <a:xfrm>
            <a:off x="4572000" y="4343400"/>
            <a:ext cx="2011680" cy="365760"/>
          </a:xfrm>
          <a:prstGeom prst="rect">
            <a:avLst/>
          </a:prstGeom>
          <a:noFill/>
          <a:ln/>
        </p:spPr>
        <p:txBody>
          <a:bodyPr wrap="square" lIns="0" tIns="0" rIns="0" bIns="0" rtlCol="0" anchor="t"/>
          <a:lstStyle/>
          <a:p>
            <a:pPr indent="0" marL="0">
              <a:buNone/>
            </a:pPr>
            <a:r>
              <a:rPr lang="en-US" sz="1400" dirty="0">
                <a:solidFill>
                  <a:schemeClr val="accent5"/>
                </a:solidFill>
              </a:rPr>
              <a:t>Owner: Balanilavan</a:t>
            </a:r>
            <a:endParaRPr lang="en-US" sz="1400" dirty="0"/>
          </a:p>
        </p:txBody>
      </p:sp>
      <p:sp>
        <p:nvSpPr>
          <p:cNvPr id="22" name="doc 203 result"/>
          <p:cNvSpPr/>
          <p:nvPr/>
        </p:nvSpPr>
        <p:spPr>
          <a:xfrm>
            <a:off x="6446520" y="3959352"/>
            <a:ext cx="1143000" cy="329184"/>
          </a:xfrm>
          <a:prstGeom prst="roundRect">
            <a:avLst>
              <a:gd name="adj" fmla="val 50000"/>
            </a:avLst>
          </a:prstGeom>
          <a:solidFill>
            <a:schemeClr val="accent2"/>
          </a:solidFill>
          <a:ln w="12700">
            <a:solidFill>
              <a:schemeClr val="accent2"/>
            </a:solidFill>
            <a:prstDash val="solid"/>
          </a:ln>
        </p:spPr>
      </p:sp>
      <p:sp>
        <p:nvSpPr>
          <p:cNvPr id="23" name="doc 203 result text"/>
          <p:cNvSpPr txBox="1"/>
          <p:nvPr/>
        </p:nvSpPr>
        <p:spPr>
          <a:xfrm>
            <a:off x="6446520" y="3959352"/>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Kept</a:t>
            </a:r>
            <a:endParaRPr lang="en-US" sz="1200" dirty="0"/>
          </a:p>
        </p:txBody>
      </p:sp>
      <p:sp>
        <p:nvSpPr>
          <p:cNvPr id="24" name="doc 204"/>
          <p:cNvSpPr/>
          <p:nvPr/>
        </p:nvSpPr>
        <p:spPr>
          <a:xfrm>
            <a:off x="8046720" y="3749040"/>
            <a:ext cx="3474720" cy="1234440"/>
          </a:xfrm>
          <a:prstGeom prst="roundRect">
            <a:avLst>
              <a:gd name="adj" fmla="val 8889"/>
            </a:avLst>
          </a:prstGeom>
          <a:solidFill>
            <a:schemeClr val="bg2"/>
          </a:solidFill>
          <a:ln w="12700">
            <a:solidFill>
              <a:schemeClr val="bg2"/>
            </a:solidFill>
            <a:prstDash val="solid"/>
          </a:ln>
        </p:spPr>
      </p:sp>
      <p:sp>
        <p:nvSpPr>
          <p:cNvPr id="25" name="doc 204 title"/>
          <p:cNvSpPr txBox="1"/>
          <p:nvPr/>
        </p:nvSpPr>
        <p:spPr>
          <a:xfrm>
            <a:off x="8321040" y="3886200"/>
            <a:ext cx="1828800" cy="411480"/>
          </a:xfrm>
          <a:prstGeom prst="rect">
            <a:avLst/>
          </a:prstGeom>
          <a:noFill/>
          <a:ln/>
        </p:spPr>
        <p:txBody>
          <a:bodyPr wrap="square" lIns="0" tIns="0" rIns="0" bIns="0" rtlCol="0" anchor="t"/>
          <a:lstStyle/>
          <a:p>
            <a:pPr indent="0" marL="0">
              <a:buNone/>
            </a:pPr>
            <a:r>
              <a:rPr lang="en-US" sz="1800" b="1" dirty="0">
                <a:solidFill>
                  <a:schemeClr val="tx1"/>
                </a:solidFill>
              </a:rPr>
              <a:t>Document 204</a:t>
            </a:r>
            <a:endParaRPr lang="en-US" sz="1800" dirty="0"/>
          </a:p>
        </p:txBody>
      </p:sp>
      <p:sp>
        <p:nvSpPr>
          <p:cNvPr id="26" name="doc 204 owner"/>
          <p:cNvSpPr txBox="1"/>
          <p:nvPr/>
        </p:nvSpPr>
        <p:spPr>
          <a:xfrm>
            <a:off x="8321040" y="4343400"/>
            <a:ext cx="2011680" cy="365760"/>
          </a:xfrm>
          <a:prstGeom prst="rect">
            <a:avLst/>
          </a:prstGeom>
          <a:noFill/>
          <a:ln/>
        </p:spPr>
        <p:txBody>
          <a:bodyPr wrap="square" lIns="0" tIns="0" rIns="0" bIns="0" rtlCol="0" anchor="t"/>
          <a:lstStyle/>
          <a:p>
            <a:pPr indent="0" marL="0">
              <a:buNone/>
            </a:pPr>
            <a:r>
              <a:rPr lang="en-US" sz="1400" dirty="0">
                <a:solidFill>
                  <a:schemeClr val="accent5"/>
                </a:solidFill>
              </a:rPr>
              <a:t>Owner: Kapilesh</a:t>
            </a:r>
            <a:endParaRPr lang="en-US" sz="1400" dirty="0"/>
          </a:p>
        </p:txBody>
      </p:sp>
      <p:sp>
        <p:nvSpPr>
          <p:cNvPr id="27" name="doc 204 result"/>
          <p:cNvSpPr/>
          <p:nvPr/>
        </p:nvSpPr>
        <p:spPr>
          <a:xfrm>
            <a:off x="10195560" y="3959352"/>
            <a:ext cx="1143000" cy="329184"/>
          </a:xfrm>
          <a:prstGeom prst="roundRect">
            <a:avLst>
              <a:gd name="adj" fmla="val 50000"/>
            </a:avLst>
          </a:prstGeom>
          <a:solidFill>
            <a:schemeClr val="accent3"/>
          </a:solidFill>
          <a:ln w="12700">
            <a:solidFill>
              <a:schemeClr val="accent3"/>
            </a:solidFill>
            <a:prstDash val="solid"/>
          </a:ln>
        </p:spPr>
      </p:sp>
      <p:sp>
        <p:nvSpPr>
          <p:cNvPr id="28" name="doc 204 result text"/>
          <p:cNvSpPr txBox="1"/>
          <p:nvPr/>
        </p:nvSpPr>
        <p:spPr>
          <a:xfrm>
            <a:off x="10195560" y="3959352"/>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Removed</a:t>
            </a:r>
            <a:endParaRPr lang="en-US" sz="1200" dirty="0"/>
          </a:p>
        </p:txBody>
      </p:sp>
      <p:sp>
        <p:nvSpPr>
          <p:cNvPr id="29" name="outcome card"/>
          <p:cNvSpPr/>
          <p:nvPr/>
        </p:nvSpPr>
        <p:spPr>
          <a:xfrm>
            <a:off x="548640" y="5257800"/>
            <a:ext cx="11064240" cy="868680"/>
          </a:xfrm>
          <a:prstGeom prst="roundRect">
            <a:avLst>
              <a:gd name="adj" fmla="val 12632"/>
            </a:avLst>
          </a:prstGeom>
          <a:solidFill>
            <a:schemeClr val="tx1"/>
          </a:solidFill>
          <a:ln w="12700">
            <a:solidFill>
              <a:schemeClr val="tx1"/>
            </a:solidFill>
            <a:prstDash val="solid"/>
          </a:ln>
        </p:spPr>
      </p:sp>
      <p:sp>
        <p:nvSpPr>
          <p:cNvPr id="30" name="outcome"/>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600" dirty="0">
                <a:solidFill>
                  <a:schemeClr val="bg1"/>
                </a:solidFill>
              </a:rPr>
              <a:t>Unprotected server: all three come back, including Kapilesh's 204.   GraphQL-Shield: only 202 and 203.</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Our research idea: the gateway finds its own blind spots</a:t>
            </a:r>
            <a:endParaRPr lang="en-US" sz="3200" dirty="0"/>
          </a:p>
        </p:txBody>
      </p:sp>
      <p:sp>
        <p:nvSpPr>
          <p:cNvPr id="3" name="idea 1"/>
          <p:cNvSpPr/>
          <p:nvPr/>
        </p:nvSpPr>
        <p:spPr>
          <a:xfrm>
            <a:off x="548640" y="1618488"/>
            <a:ext cx="548640" cy="548640"/>
          </a:xfrm>
          <a:prstGeom prst="ellipse">
            <a:avLst/>
          </a:prstGeom>
          <a:solidFill>
            <a:schemeClr val="accent1"/>
          </a:solidFill>
          <a:ln w="12700">
            <a:solidFill>
              <a:schemeClr val="accent1"/>
            </a:solidFill>
            <a:prstDash val="solid"/>
          </a:ln>
        </p:spPr>
      </p:sp>
      <p:sp>
        <p:nvSpPr>
          <p:cNvPr id="4" name="idea 1 label"/>
          <p:cNvSpPr txBox="1"/>
          <p:nvPr/>
        </p:nvSpPr>
        <p:spPr>
          <a:xfrm>
            <a:off x="548640" y="161848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idea 1 heading"/>
          <p:cNvSpPr txBox="1"/>
          <p:nvPr/>
        </p:nvSpPr>
        <p:spPr>
          <a:xfrm>
            <a:off x="1280160" y="1508760"/>
            <a:ext cx="5669280" cy="411480"/>
          </a:xfrm>
          <a:prstGeom prst="rect">
            <a:avLst/>
          </a:prstGeom>
          <a:noFill/>
          <a:ln/>
        </p:spPr>
        <p:txBody>
          <a:bodyPr wrap="square" lIns="0" tIns="0" rIns="0" bIns="0" rtlCol="0" anchor="t"/>
          <a:lstStyle/>
          <a:p>
            <a:pPr indent="0" marL="0">
              <a:buNone/>
            </a:pPr>
            <a:r>
              <a:rPr lang="en-US" sz="1900" b="1" dirty="0">
                <a:solidFill>
                  <a:schemeClr val="tx1"/>
                </a:solidFill>
              </a:rPr>
              <a:t>Layer 2 takes notes</a:t>
            </a:r>
            <a:endParaRPr lang="en-US" sz="1900" dirty="0"/>
          </a:p>
        </p:txBody>
      </p:sp>
      <p:sp>
        <p:nvSpPr>
          <p:cNvPr id="6" name="idea 1 text"/>
          <p:cNvSpPr txBox="1"/>
          <p:nvPr/>
        </p:nvSpPr>
        <p:spPr>
          <a:xfrm>
            <a:off x="1280160" y="1920240"/>
            <a:ext cx="5669280" cy="411480"/>
          </a:xfrm>
          <a:prstGeom prst="rect">
            <a:avLst/>
          </a:prstGeom>
          <a:noFill/>
          <a:ln/>
        </p:spPr>
        <p:txBody>
          <a:bodyPr wrap="square" lIns="0" tIns="0" rIns="0" bIns="0" rtlCol="0" anchor="t"/>
          <a:lstStyle/>
          <a:p>
            <a:pPr indent="0" marL="0">
              <a:buNone/>
            </a:pPr>
            <a:r>
              <a:rPr lang="en-US" sz="1500" dirty="0">
                <a:solidFill>
                  <a:schemeClr val="accent5"/>
                </a:solidFill>
              </a:rPr>
              <a:t>Every object Layer 1 missed is recorded automatically</a:t>
            </a:r>
            <a:endParaRPr lang="en-US" sz="1500" dirty="0"/>
          </a:p>
        </p:txBody>
      </p:sp>
      <p:sp>
        <p:nvSpPr>
          <p:cNvPr id="7" name="idea 2"/>
          <p:cNvSpPr/>
          <p:nvPr/>
        </p:nvSpPr>
        <p:spPr>
          <a:xfrm>
            <a:off x="548640" y="2734056"/>
            <a:ext cx="548640" cy="548640"/>
          </a:xfrm>
          <a:prstGeom prst="ellipse">
            <a:avLst/>
          </a:prstGeom>
          <a:solidFill>
            <a:schemeClr val="accent1"/>
          </a:solidFill>
          <a:ln w="12700">
            <a:solidFill>
              <a:schemeClr val="accent1"/>
            </a:solidFill>
            <a:prstDash val="solid"/>
          </a:ln>
        </p:spPr>
      </p:sp>
      <p:sp>
        <p:nvSpPr>
          <p:cNvPr id="8" name="idea 2 label"/>
          <p:cNvSpPr txBox="1"/>
          <p:nvPr/>
        </p:nvSpPr>
        <p:spPr>
          <a:xfrm>
            <a:off x="548640" y="273405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idea 2 heading"/>
          <p:cNvSpPr txBox="1"/>
          <p:nvPr/>
        </p:nvSpPr>
        <p:spPr>
          <a:xfrm>
            <a:off x="1280160" y="2624328"/>
            <a:ext cx="5669280" cy="411480"/>
          </a:xfrm>
          <a:prstGeom prst="rect">
            <a:avLst/>
          </a:prstGeom>
          <a:noFill/>
          <a:ln/>
        </p:spPr>
        <p:txBody>
          <a:bodyPr wrap="square" lIns="0" tIns="0" rIns="0" bIns="0" rtlCol="0" anchor="t"/>
          <a:lstStyle/>
          <a:p>
            <a:pPr indent="0" marL="0">
              <a:buNone/>
            </a:pPr>
            <a:r>
              <a:rPr lang="en-US" sz="1900" b="1" dirty="0">
                <a:solidFill>
                  <a:schemeClr val="tx1"/>
                </a:solidFill>
              </a:rPr>
              <a:t>Free training data</a:t>
            </a:r>
            <a:endParaRPr lang="en-US" sz="1900" dirty="0"/>
          </a:p>
        </p:txBody>
      </p:sp>
      <p:sp>
        <p:nvSpPr>
          <p:cNvPr id="10" name="idea 2 text"/>
          <p:cNvSpPr txBox="1"/>
          <p:nvPr/>
        </p:nvSpPr>
        <p:spPr>
          <a:xfrm>
            <a:off x="1280160" y="3035808"/>
            <a:ext cx="5669280" cy="411480"/>
          </a:xfrm>
          <a:prstGeom prst="rect">
            <a:avLst/>
          </a:prstGeom>
          <a:noFill/>
          <a:ln/>
        </p:spPr>
        <p:txBody>
          <a:bodyPr wrap="square" lIns="0" tIns="0" rIns="0" bIns="0" rtlCol="0" anchor="t"/>
          <a:lstStyle/>
          <a:p>
            <a:pPr indent="0" marL="0">
              <a:buNone/>
            </a:pPr>
            <a:r>
              <a:rPr lang="en-US" sz="1500" dirty="0">
                <a:solidFill>
                  <a:schemeClr val="accent5"/>
                </a:solidFill>
              </a:rPr>
              <a:t>These notes become the answers. No manual labelling</a:t>
            </a:r>
            <a:endParaRPr lang="en-US" sz="1500" dirty="0"/>
          </a:p>
        </p:txBody>
      </p:sp>
      <p:sp>
        <p:nvSpPr>
          <p:cNvPr id="11" name="idea 3"/>
          <p:cNvSpPr/>
          <p:nvPr/>
        </p:nvSpPr>
        <p:spPr>
          <a:xfrm>
            <a:off x="548640" y="3849624"/>
            <a:ext cx="548640" cy="548640"/>
          </a:xfrm>
          <a:prstGeom prst="ellipse">
            <a:avLst/>
          </a:prstGeom>
          <a:solidFill>
            <a:schemeClr val="accent1"/>
          </a:solidFill>
          <a:ln w="12700">
            <a:solidFill>
              <a:schemeClr val="accent1"/>
            </a:solidFill>
            <a:prstDash val="solid"/>
          </a:ln>
        </p:spPr>
      </p:sp>
      <p:sp>
        <p:nvSpPr>
          <p:cNvPr id="12" name="idea 3 label"/>
          <p:cNvSpPr txBox="1"/>
          <p:nvPr/>
        </p:nvSpPr>
        <p:spPr>
          <a:xfrm>
            <a:off x="548640" y="384962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idea 3 heading"/>
          <p:cNvSpPr txBox="1"/>
          <p:nvPr/>
        </p:nvSpPr>
        <p:spPr>
          <a:xfrm>
            <a:off x="1280160" y="3739896"/>
            <a:ext cx="5669280" cy="411480"/>
          </a:xfrm>
          <a:prstGeom prst="rect">
            <a:avLst/>
          </a:prstGeom>
          <a:noFill/>
          <a:ln/>
        </p:spPr>
        <p:txBody>
          <a:bodyPr wrap="square" lIns="0" tIns="0" rIns="0" bIns="0" rtlCol="0" anchor="t"/>
          <a:lstStyle/>
          <a:p>
            <a:pPr indent="0" marL="0">
              <a:buNone/>
            </a:pPr>
            <a:r>
              <a:rPr lang="en-US" sz="1900" b="1" dirty="0">
                <a:solidFill>
                  <a:schemeClr val="tx1"/>
                </a:solidFill>
              </a:rPr>
              <a:t>ML model learns</a:t>
            </a:r>
            <a:endParaRPr lang="en-US" sz="1900" dirty="0"/>
          </a:p>
        </p:txBody>
      </p:sp>
      <p:sp>
        <p:nvSpPr>
          <p:cNvPr id="14" name="idea 3 text"/>
          <p:cNvSpPr txBox="1"/>
          <p:nvPr/>
        </p:nvSpPr>
        <p:spPr>
          <a:xfrm>
            <a:off x="1280160" y="4151376"/>
            <a:ext cx="5669280" cy="411480"/>
          </a:xfrm>
          <a:prstGeom prst="rect">
            <a:avLst/>
          </a:prstGeom>
          <a:noFill/>
          <a:ln/>
        </p:spPr>
        <p:txBody>
          <a:bodyPr wrap="square" lIns="0" tIns="0" rIns="0" bIns="0" rtlCol="0" anchor="t"/>
          <a:lstStyle/>
          <a:p>
            <a:pPr indent="0" marL="0">
              <a:buNone/>
            </a:pPr>
            <a:r>
              <a:rPr lang="en-US" sz="1500" dirty="0">
                <a:solidFill>
                  <a:schemeClr val="accent5"/>
                </a:solidFill>
              </a:rPr>
              <a:t>Which kinds of queries does Layer 1 miss?</a:t>
            </a:r>
            <a:endParaRPr lang="en-US" sz="1500" dirty="0"/>
          </a:p>
        </p:txBody>
      </p:sp>
      <p:sp>
        <p:nvSpPr>
          <p:cNvPr id="15" name="idea 4"/>
          <p:cNvSpPr/>
          <p:nvPr/>
        </p:nvSpPr>
        <p:spPr>
          <a:xfrm>
            <a:off x="548640" y="4965192"/>
            <a:ext cx="548640" cy="548640"/>
          </a:xfrm>
          <a:prstGeom prst="ellipse">
            <a:avLst/>
          </a:prstGeom>
          <a:solidFill>
            <a:schemeClr val="accent2"/>
          </a:solidFill>
          <a:ln w="12700">
            <a:solidFill>
              <a:schemeClr val="accent2"/>
            </a:solidFill>
            <a:prstDash val="solid"/>
          </a:ln>
        </p:spPr>
      </p:sp>
      <p:sp>
        <p:nvSpPr>
          <p:cNvPr id="16" name="idea 4 label"/>
          <p:cNvSpPr txBox="1"/>
          <p:nvPr/>
        </p:nvSpPr>
        <p:spPr>
          <a:xfrm>
            <a:off x="548640" y="496519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idea 4 heading"/>
          <p:cNvSpPr txBox="1"/>
          <p:nvPr/>
        </p:nvSpPr>
        <p:spPr>
          <a:xfrm>
            <a:off x="1280160" y="4855464"/>
            <a:ext cx="5669280" cy="411480"/>
          </a:xfrm>
          <a:prstGeom prst="rect">
            <a:avLst/>
          </a:prstGeom>
          <a:noFill/>
          <a:ln/>
        </p:spPr>
        <p:txBody>
          <a:bodyPr wrap="square" lIns="0" tIns="0" rIns="0" bIns="0" rtlCol="0" anchor="t"/>
          <a:lstStyle/>
          <a:p>
            <a:pPr indent="0" marL="0">
              <a:buNone/>
            </a:pPr>
            <a:r>
              <a:rPr lang="en-US" sz="1900" b="1" dirty="0">
                <a:solidFill>
                  <a:schemeClr val="tx1"/>
                </a:solidFill>
              </a:rPr>
              <a:t>Real bug found</a:t>
            </a:r>
            <a:endParaRPr lang="en-US" sz="1900" dirty="0"/>
          </a:p>
        </p:txBody>
      </p:sp>
      <p:sp>
        <p:nvSpPr>
          <p:cNvPr id="18" name="idea 4 text"/>
          <p:cNvSpPr txBox="1"/>
          <p:nvPr/>
        </p:nvSpPr>
        <p:spPr>
          <a:xfrm>
            <a:off x="1280160" y="5266944"/>
            <a:ext cx="5669280" cy="411480"/>
          </a:xfrm>
          <a:prstGeom prst="rect">
            <a:avLst/>
          </a:prstGeom>
          <a:noFill/>
          <a:ln/>
        </p:spPr>
        <p:txBody>
          <a:bodyPr wrap="square" lIns="0" tIns="0" rIns="0" bIns="0" rtlCol="0" anchor="t"/>
          <a:lstStyle/>
          <a:p>
            <a:pPr indent="0" marL="0">
              <a:buNone/>
            </a:pPr>
            <a:r>
              <a:rPr lang="en-US" sz="1500" dirty="0">
                <a:solidFill>
                  <a:schemeClr val="accent5"/>
                </a:solidFill>
              </a:rPr>
              <a:t>Layer 1 ignored default values in variables. We fixed it</a:t>
            </a:r>
            <a:endParaRPr lang="en-US" sz="1500" dirty="0"/>
          </a:p>
        </p:txBody>
      </p:sp>
      <p:sp>
        <p:nvSpPr>
          <p:cNvPr id="19" name="result card"/>
          <p:cNvSpPr/>
          <p:nvPr/>
        </p:nvSpPr>
        <p:spPr>
          <a:xfrm>
            <a:off x="7406640" y="1508760"/>
            <a:ext cx="4206240" cy="4206240"/>
          </a:xfrm>
          <a:prstGeom prst="roundRect">
            <a:avLst>
              <a:gd name="adj" fmla="val 2609"/>
            </a:avLst>
          </a:prstGeom>
          <a:solidFill>
            <a:schemeClr val="tx1"/>
          </a:solidFill>
          <a:ln w="12700">
            <a:solidFill>
              <a:schemeClr val="tx1"/>
            </a:solidFill>
            <a:prstDash val="solid"/>
          </a:ln>
        </p:spPr>
      </p:sp>
      <p:sp>
        <p:nvSpPr>
          <p:cNvPr id="20" name="result number"/>
          <p:cNvSpPr txBox="1"/>
          <p:nvPr/>
        </p:nvSpPr>
        <p:spPr>
          <a:xfrm>
            <a:off x="7680960" y="1783080"/>
            <a:ext cx="3657600" cy="1371600"/>
          </a:xfrm>
          <a:prstGeom prst="rect">
            <a:avLst/>
          </a:prstGeom>
          <a:noFill/>
          <a:ln/>
        </p:spPr>
        <p:txBody>
          <a:bodyPr wrap="square" lIns="0" tIns="0" rIns="0" bIns="0" rtlCol="0" anchor="t"/>
          <a:lstStyle/>
          <a:p>
            <a:pPr indent="0" marL="0">
              <a:buNone/>
            </a:pPr>
            <a:r>
              <a:rPr lang="en-US" sz="8000" b="1" dirty="0">
                <a:solidFill>
                  <a:schemeClr val="accent6"/>
                </a:solidFill>
                <a:latin typeface="Cambria" pitchFamily="34" charset="0"/>
                <a:ea typeface="Cambria" pitchFamily="34" charset="-122"/>
                <a:cs typeface="Cambria" pitchFamily="34" charset="-120"/>
              </a:rPr>
              <a:t>66%</a:t>
            </a:r>
            <a:endParaRPr lang="en-US" sz="8000" dirty="0"/>
          </a:p>
        </p:txBody>
      </p:sp>
      <p:sp>
        <p:nvSpPr>
          <p:cNvPr id="21" name="result label"/>
          <p:cNvSpPr txBox="1"/>
          <p:nvPr/>
        </p:nvSpPr>
        <p:spPr>
          <a:xfrm>
            <a:off x="7680960" y="3200400"/>
            <a:ext cx="3657600" cy="822960"/>
          </a:xfrm>
          <a:prstGeom prst="rect">
            <a:avLst/>
          </a:prstGeom>
          <a:noFill/>
          <a:ln/>
        </p:spPr>
        <p:txBody>
          <a:bodyPr wrap="square" lIns="0" tIns="0" rIns="0" bIns="0" rtlCol="0" anchor="t"/>
          <a:lstStyle/>
          <a:p>
            <a:pPr indent="0" marL="0">
              <a:buNone/>
            </a:pPr>
            <a:r>
              <a:rPr lang="en-US" sz="1700" dirty="0">
                <a:solidFill>
                  <a:schemeClr val="bg1"/>
                </a:solidFill>
              </a:rPr>
              <a:t>fewer attacks that only Layer 2 could stop, after fixing the bug</a:t>
            </a:r>
            <a:endParaRPr lang="en-US" sz="1700" dirty="0"/>
          </a:p>
        </p:txBody>
      </p:sp>
      <p:sp>
        <p:nvSpPr>
          <p:cNvPr id="22" name="result detail"/>
          <p:cNvSpPr txBox="1"/>
          <p:nvPr/>
        </p:nvSpPr>
        <p:spPr>
          <a:xfrm>
            <a:off x="7680960" y="4114800"/>
            <a:ext cx="3657600" cy="1371600"/>
          </a:xfrm>
          <a:prstGeom prst="rect">
            <a:avLst/>
          </a:prstGeom>
          <a:noFill/>
          <a:ln/>
        </p:spPr>
        <p:txBody>
          <a:bodyPr wrap="square" lIns="0" tIns="0" rIns="0" bIns="0" rtlCol="0" anchor="t"/>
          <a:lstStyle/>
          <a:p>
            <a:pPr indent="0" marL="0">
              <a:buNone/>
            </a:pPr>
            <a:r>
              <a:rPr lang="en-US" sz="1400" dirty="0">
                <a:solidFill>
                  <a:schemeClr val="accent6"/>
                </a:solidFill>
              </a:rPr>
              <a:t>401 → 138 per 4,000 test requests. Our hand-written rule missed all 585 affected requests; the model found them.</a:t>
            </a:r>
            <a:endParaRPr lang="en-US" sz="1400" dirty="0"/>
          </a:p>
        </p:txBody>
      </p:sp>
      <p:sp>
        <p:nvSpPr>
          <p:cNvPr id="23" name="advisory"/>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b="1" dirty="0">
                <a:solidFill>
                  <a:schemeClr val="tx2"/>
                </a:solidFill>
              </a:rPr>
              <a:t>The model only warns. It never allows or blocks a request.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The dashboard: a live window onto every decision</a:t>
            </a:r>
            <a:endParaRPr lang="en-US" sz="3200" dirty="0"/>
          </a:p>
        </p:txBody>
      </p:sp>
      <p:sp>
        <p:nvSpPr>
          <p:cNvPr id="3" name="tab 1 card"/>
          <p:cNvSpPr/>
          <p:nvPr/>
        </p:nvSpPr>
        <p:spPr>
          <a:xfrm>
            <a:off x="548640" y="1600200"/>
            <a:ext cx="3474720" cy="3017520"/>
          </a:xfrm>
          <a:prstGeom prst="roundRect">
            <a:avLst>
              <a:gd name="adj" fmla="val 3636"/>
            </a:avLst>
          </a:prstGeom>
          <a:solidFill>
            <a:schemeClr val="bg2"/>
          </a:solidFill>
          <a:ln w="12700">
            <a:solidFill>
              <a:schemeClr val="bg2"/>
            </a:solidFill>
            <a:prstDash val="solid"/>
          </a:ln>
        </p:spPr>
      </p:sp>
      <p:sp>
        <p:nvSpPr>
          <p:cNvPr id="4" name="tab 1"/>
          <p:cNvSpPr/>
          <p:nvPr/>
        </p:nvSpPr>
        <p:spPr>
          <a:xfrm>
            <a:off x="822960" y="1828800"/>
            <a:ext cx="640080" cy="640080"/>
          </a:xfrm>
          <a:prstGeom prst="ellipse">
            <a:avLst/>
          </a:prstGeom>
          <a:solidFill>
            <a:schemeClr val="accent1"/>
          </a:solidFill>
          <a:ln w="12700">
            <a:solidFill>
              <a:schemeClr val="accent1"/>
            </a:solidFill>
            <a:prstDash val="solid"/>
          </a:ln>
        </p:spPr>
      </p:sp>
      <p:sp>
        <p:nvSpPr>
          <p:cNvPr id="5" name="tab 1 label"/>
          <p:cNvSpPr txBox="1"/>
          <p:nvPr/>
        </p:nvSpPr>
        <p:spPr>
          <a:xfrm>
            <a:off x="822960" y="1828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ab 1 heading"/>
          <p:cNvSpPr txBox="1"/>
          <p:nvPr/>
        </p:nvSpPr>
        <p:spPr>
          <a:xfrm>
            <a:off x="822960" y="2697480"/>
            <a:ext cx="2926080" cy="457200"/>
          </a:xfrm>
          <a:prstGeom prst="rect">
            <a:avLst/>
          </a:prstGeom>
          <a:noFill/>
          <a:ln/>
        </p:spPr>
        <p:txBody>
          <a:bodyPr wrap="square" lIns="0" tIns="0" rIns="0" bIns="0" rtlCol="0" anchor="t"/>
          <a:lstStyle/>
          <a:p>
            <a:pPr indent="0" marL="0">
              <a:buNone/>
            </a:pPr>
            <a:r>
              <a:rPr lang="en-US" sz="2100" b="1" dirty="0">
                <a:solidFill>
                  <a:schemeClr val="tx1"/>
                </a:solidFill>
              </a:rPr>
              <a:t>Security Testing</a:t>
            </a:r>
            <a:endParaRPr lang="en-US" sz="2100" dirty="0"/>
          </a:p>
        </p:txBody>
      </p:sp>
      <p:sp>
        <p:nvSpPr>
          <p:cNvPr id="7" name="tab 1 text"/>
          <p:cNvSpPr txBox="1"/>
          <p:nvPr/>
        </p:nvSpPr>
        <p:spPr>
          <a:xfrm>
            <a:off x="822960" y="3200400"/>
            <a:ext cx="2926080" cy="1280160"/>
          </a:xfrm>
          <a:prstGeom prst="rect">
            <a:avLst/>
          </a:prstGeom>
          <a:noFill/>
          <a:ln/>
        </p:spPr>
        <p:txBody>
          <a:bodyPr wrap="square" lIns="0" tIns="0" rIns="0" bIns="0" rtlCol="0" anchor="t"/>
          <a:lstStyle/>
          <a:p>
            <a:pPr indent="0" marL="0">
              <a:buNone/>
            </a:pPr>
            <a:r>
              <a:rPr lang="en-US" sz="1500" dirty="0">
                <a:solidFill>
                  <a:schemeClr val="tx1"/>
                </a:solidFill>
              </a:rPr>
              <a:t>Send real attacks and watch them get blocked. See both layers' counters.</a:t>
            </a:r>
            <a:endParaRPr lang="en-US" sz="1500" dirty="0"/>
          </a:p>
        </p:txBody>
      </p:sp>
      <p:sp>
        <p:nvSpPr>
          <p:cNvPr id="8" name="tab 2 card"/>
          <p:cNvSpPr/>
          <p:nvPr/>
        </p:nvSpPr>
        <p:spPr>
          <a:xfrm>
            <a:off x="4297680" y="1600200"/>
            <a:ext cx="3474720" cy="3017520"/>
          </a:xfrm>
          <a:prstGeom prst="roundRect">
            <a:avLst>
              <a:gd name="adj" fmla="val 3636"/>
            </a:avLst>
          </a:prstGeom>
          <a:solidFill>
            <a:schemeClr val="bg2"/>
          </a:solidFill>
          <a:ln w="12700">
            <a:solidFill>
              <a:schemeClr val="bg2"/>
            </a:solidFill>
            <a:prstDash val="solid"/>
          </a:ln>
        </p:spPr>
      </p:sp>
      <p:sp>
        <p:nvSpPr>
          <p:cNvPr id="9" name="tab 2"/>
          <p:cNvSpPr/>
          <p:nvPr/>
        </p:nvSpPr>
        <p:spPr>
          <a:xfrm>
            <a:off x="4572000" y="1828800"/>
            <a:ext cx="640080" cy="640080"/>
          </a:xfrm>
          <a:prstGeom prst="ellipse">
            <a:avLst/>
          </a:prstGeom>
          <a:solidFill>
            <a:schemeClr val="tx2"/>
          </a:solidFill>
          <a:ln w="12700">
            <a:solidFill>
              <a:schemeClr val="tx2"/>
            </a:solidFill>
            <a:prstDash val="solid"/>
          </a:ln>
        </p:spPr>
      </p:sp>
      <p:sp>
        <p:nvSpPr>
          <p:cNvPr id="10" name="tab 2 label"/>
          <p:cNvSpPr txBox="1"/>
          <p:nvPr/>
        </p:nvSpPr>
        <p:spPr>
          <a:xfrm>
            <a:off x="4572000" y="1828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ab 2 heading"/>
          <p:cNvSpPr txBox="1"/>
          <p:nvPr/>
        </p:nvSpPr>
        <p:spPr>
          <a:xfrm>
            <a:off x="4572000" y="2697480"/>
            <a:ext cx="2926080" cy="457200"/>
          </a:xfrm>
          <a:prstGeom prst="rect">
            <a:avLst/>
          </a:prstGeom>
          <a:noFill/>
          <a:ln/>
        </p:spPr>
        <p:txBody>
          <a:bodyPr wrap="square" lIns="0" tIns="0" rIns="0" bIns="0" rtlCol="0" anchor="t"/>
          <a:lstStyle/>
          <a:p>
            <a:pPr indent="0" marL="0">
              <a:buNone/>
            </a:pPr>
            <a:r>
              <a:rPr lang="en-US" sz="2100" b="1" dirty="0">
                <a:solidFill>
                  <a:schemeClr val="tx1"/>
                </a:solidFill>
              </a:rPr>
              <a:t>Research &amp; ML</a:t>
            </a:r>
            <a:endParaRPr lang="en-US" sz="2100" dirty="0"/>
          </a:p>
        </p:txBody>
      </p:sp>
      <p:sp>
        <p:nvSpPr>
          <p:cNvPr id="12" name="tab 2 text"/>
          <p:cNvSpPr txBox="1"/>
          <p:nvPr/>
        </p:nvSpPr>
        <p:spPr>
          <a:xfrm>
            <a:off x="4572000" y="3200400"/>
            <a:ext cx="2926080" cy="1280160"/>
          </a:xfrm>
          <a:prstGeom prst="rect">
            <a:avLst/>
          </a:prstGeom>
          <a:noFill/>
          <a:ln/>
        </p:spPr>
        <p:txBody>
          <a:bodyPr wrap="square" lIns="0" tIns="0" rIns="0" bIns="0" rtlCol="0" anchor="t"/>
          <a:lstStyle/>
          <a:p>
            <a:pPr indent="0" marL="0">
              <a:buNone/>
            </a:pPr>
            <a:r>
              <a:rPr lang="en-US" sz="1500" dirty="0">
                <a:solidFill>
                  <a:schemeClr val="tx1"/>
                </a:solidFill>
              </a:rPr>
              <a:t>The two machine-learning models and our blind-spot discovery.</a:t>
            </a:r>
            <a:endParaRPr lang="en-US" sz="1500" dirty="0"/>
          </a:p>
        </p:txBody>
      </p:sp>
      <p:sp>
        <p:nvSpPr>
          <p:cNvPr id="13" name="tab 3 card"/>
          <p:cNvSpPr/>
          <p:nvPr/>
        </p:nvSpPr>
        <p:spPr>
          <a:xfrm>
            <a:off x="8046720" y="1600200"/>
            <a:ext cx="3474720" cy="3017520"/>
          </a:xfrm>
          <a:prstGeom prst="roundRect">
            <a:avLst>
              <a:gd name="adj" fmla="val 3636"/>
            </a:avLst>
          </a:prstGeom>
          <a:solidFill>
            <a:schemeClr val="bg2"/>
          </a:solidFill>
          <a:ln w="12700">
            <a:solidFill>
              <a:schemeClr val="bg2"/>
            </a:solidFill>
            <a:prstDash val="solid"/>
          </a:ln>
        </p:spPr>
      </p:sp>
      <p:sp>
        <p:nvSpPr>
          <p:cNvPr id="14" name="tab 3"/>
          <p:cNvSpPr/>
          <p:nvPr/>
        </p:nvSpPr>
        <p:spPr>
          <a:xfrm>
            <a:off x="8321040" y="1828800"/>
            <a:ext cx="640080" cy="640080"/>
          </a:xfrm>
          <a:prstGeom prst="ellipse">
            <a:avLst/>
          </a:prstGeom>
          <a:solidFill>
            <a:schemeClr val="accent2"/>
          </a:solidFill>
          <a:ln w="12700">
            <a:solidFill>
              <a:schemeClr val="accent2"/>
            </a:solidFill>
            <a:prstDash val="solid"/>
          </a:ln>
        </p:spPr>
      </p:sp>
      <p:sp>
        <p:nvSpPr>
          <p:cNvPr id="15" name="tab 3 label"/>
          <p:cNvSpPr txBox="1"/>
          <p:nvPr/>
        </p:nvSpPr>
        <p:spPr>
          <a:xfrm>
            <a:off x="8321040" y="1828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ab 3 heading"/>
          <p:cNvSpPr txBox="1"/>
          <p:nvPr/>
        </p:nvSpPr>
        <p:spPr>
          <a:xfrm>
            <a:off x="8321040" y="2697480"/>
            <a:ext cx="2926080" cy="457200"/>
          </a:xfrm>
          <a:prstGeom prst="rect">
            <a:avLst/>
          </a:prstGeom>
          <a:noFill/>
          <a:ln/>
        </p:spPr>
        <p:txBody>
          <a:bodyPr wrap="square" lIns="0" tIns="0" rIns="0" bIns="0" rtlCol="0" anchor="t"/>
          <a:lstStyle/>
          <a:p>
            <a:pPr indent="0" marL="0">
              <a:buNone/>
            </a:pPr>
            <a:r>
              <a:rPr lang="en-US" sz="2100" b="1" dirty="0">
                <a:solidFill>
                  <a:schemeClr val="tx1"/>
                </a:solidFill>
              </a:rPr>
              <a:t>Audit &amp; Verification</a:t>
            </a:r>
            <a:endParaRPr lang="en-US" sz="2100" dirty="0"/>
          </a:p>
        </p:txBody>
      </p:sp>
      <p:sp>
        <p:nvSpPr>
          <p:cNvPr id="17" name="tab 3 text"/>
          <p:cNvSpPr txBox="1"/>
          <p:nvPr/>
        </p:nvSpPr>
        <p:spPr>
          <a:xfrm>
            <a:off x="8321040" y="3200400"/>
            <a:ext cx="2926080" cy="1280160"/>
          </a:xfrm>
          <a:prstGeom prst="rect">
            <a:avLst/>
          </a:prstGeom>
          <a:noFill/>
          <a:ln/>
        </p:spPr>
        <p:txBody>
          <a:bodyPr wrap="square" lIns="0" tIns="0" rIns="0" bIns="0" rtlCol="0" anchor="t"/>
          <a:lstStyle/>
          <a:p>
            <a:pPr indent="0" marL="0">
              <a:buNone/>
            </a:pPr>
            <a:r>
              <a:rPr lang="en-US" sz="1500" dirty="0">
                <a:solidFill>
                  <a:schemeClr val="tx1"/>
                </a:solidFill>
              </a:rPr>
              <a:t>The evidence: every decision with the real owner of each object.</a:t>
            </a:r>
            <a:endParaRPr lang="en-US" sz="1500" dirty="0"/>
          </a:p>
        </p:txBody>
      </p:sp>
      <p:sp>
        <p:nvSpPr>
          <p:cNvPr id="18" name="fact 1 heading"/>
          <p:cNvSpPr txBox="1"/>
          <p:nvPr/>
        </p:nvSpPr>
        <p:spPr>
          <a:xfrm>
            <a:off x="548640" y="4892040"/>
            <a:ext cx="3474720" cy="411480"/>
          </a:xfrm>
          <a:prstGeom prst="rect">
            <a:avLst/>
          </a:prstGeom>
          <a:noFill/>
          <a:ln/>
        </p:spPr>
        <p:txBody>
          <a:bodyPr wrap="square" lIns="0" tIns="0" rIns="0" bIns="0" rtlCol="0" anchor="t"/>
          <a:lstStyle/>
          <a:p>
            <a:pPr indent="0" marL="0">
              <a:buNone/>
            </a:pPr>
            <a:r>
              <a:rPr lang="en-US" sz="1800" b="1" dirty="0">
                <a:solidFill>
                  <a:schemeClr val="accent1"/>
                </a:solidFill>
              </a:rPr>
              <a:t>Live</a:t>
            </a:r>
            <a:endParaRPr lang="en-US" sz="1800" dirty="0"/>
          </a:p>
        </p:txBody>
      </p:sp>
      <p:sp>
        <p:nvSpPr>
          <p:cNvPr id="19" name="fact 1 text"/>
          <p:cNvSpPr txBox="1"/>
          <p:nvPr/>
        </p:nvSpPr>
        <p:spPr>
          <a:xfrm>
            <a:off x="548640" y="5303520"/>
            <a:ext cx="3474720" cy="365760"/>
          </a:xfrm>
          <a:prstGeom prst="rect">
            <a:avLst/>
          </a:prstGeom>
          <a:noFill/>
          <a:ln/>
        </p:spPr>
        <p:txBody>
          <a:bodyPr wrap="square" lIns="0" tIns="0" rIns="0" bIns="0" rtlCol="0" anchor="t"/>
          <a:lstStyle/>
          <a:p>
            <a:pPr indent="0" marL="0">
              <a:buNone/>
            </a:pPr>
            <a:r>
              <a:rPr lang="en-US" sz="1500" dirty="0">
                <a:solidFill>
                  <a:schemeClr val="accent5"/>
                </a:solidFill>
              </a:rPr>
              <a:t>Refreshes every 30 seconds</a:t>
            </a:r>
            <a:endParaRPr lang="en-US" sz="1500" dirty="0"/>
          </a:p>
        </p:txBody>
      </p:sp>
      <p:sp>
        <p:nvSpPr>
          <p:cNvPr id="20" name="fact 2 heading"/>
          <p:cNvSpPr txBox="1"/>
          <p:nvPr/>
        </p:nvSpPr>
        <p:spPr>
          <a:xfrm>
            <a:off x="4297680" y="4892040"/>
            <a:ext cx="3474720" cy="411480"/>
          </a:xfrm>
          <a:prstGeom prst="rect">
            <a:avLst/>
          </a:prstGeom>
          <a:noFill/>
          <a:ln/>
        </p:spPr>
        <p:txBody>
          <a:bodyPr wrap="square" lIns="0" tIns="0" rIns="0" bIns="0" rtlCol="0" anchor="t"/>
          <a:lstStyle/>
          <a:p>
            <a:pPr indent="0" marL="0">
              <a:buNone/>
            </a:pPr>
            <a:r>
              <a:rPr lang="en-US" sz="1800" b="1" dirty="0">
                <a:solidFill>
                  <a:schemeClr val="accent1"/>
                </a:solidFill>
              </a:rPr>
              <a:t>Private</a:t>
            </a:r>
            <a:endParaRPr lang="en-US" sz="1800" dirty="0"/>
          </a:p>
        </p:txBody>
      </p:sp>
      <p:sp>
        <p:nvSpPr>
          <p:cNvPr id="21" name="fact 2 text"/>
          <p:cNvSpPr txBox="1"/>
          <p:nvPr/>
        </p:nvSpPr>
        <p:spPr>
          <a:xfrm>
            <a:off x="4297680" y="5303520"/>
            <a:ext cx="3474720" cy="365760"/>
          </a:xfrm>
          <a:prstGeom prst="rect">
            <a:avLst/>
          </a:prstGeom>
          <a:noFill/>
          <a:ln/>
        </p:spPr>
        <p:txBody>
          <a:bodyPr wrap="square" lIns="0" tIns="0" rIns="0" bIns="0" rtlCol="0" anchor="t"/>
          <a:lstStyle/>
          <a:p>
            <a:pPr indent="0" marL="0">
              <a:buNone/>
            </a:pPr>
            <a:r>
              <a:rPr lang="en-US" sz="1500" dirty="0">
                <a:solidFill>
                  <a:schemeClr val="accent5"/>
                </a:solidFill>
              </a:rPr>
              <a:t>Who accessed what: admin only</a:t>
            </a:r>
            <a:endParaRPr lang="en-US" sz="1500" dirty="0"/>
          </a:p>
        </p:txBody>
      </p:sp>
      <p:sp>
        <p:nvSpPr>
          <p:cNvPr id="22" name="fact 3 heading"/>
          <p:cNvSpPr txBox="1"/>
          <p:nvPr/>
        </p:nvSpPr>
        <p:spPr>
          <a:xfrm>
            <a:off x="8046720" y="4892040"/>
            <a:ext cx="3474720" cy="411480"/>
          </a:xfrm>
          <a:prstGeom prst="rect">
            <a:avLst/>
          </a:prstGeom>
          <a:noFill/>
          <a:ln/>
        </p:spPr>
        <p:txBody>
          <a:bodyPr wrap="square" lIns="0" tIns="0" rIns="0" bIns="0" rtlCol="0" anchor="t"/>
          <a:lstStyle/>
          <a:p>
            <a:pPr indent="0" marL="0">
              <a:buNone/>
            </a:pPr>
            <a:r>
              <a:rPr lang="en-US" sz="1800" b="1" dirty="0">
                <a:solidFill>
                  <a:schemeClr val="accent1"/>
                </a:solidFill>
              </a:rPr>
              <a:t>Real</a:t>
            </a:r>
            <a:endParaRPr lang="en-US" sz="1800" dirty="0"/>
          </a:p>
        </p:txBody>
      </p:sp>
      <p:sp>
        <p:nvSpPr>
          <p:cNvPr id="23" name="fact 3 text"/>
          <p:cNvSpPr txBox="1"/>
          <p:nvPr/>
        </p:nvSpPr>
        <p:spPr>
          <a:xfrm>
            <a:off x="8046720" y="5303520"/>
            <a:ext cx="3474720" cy="365760"/>
          </a:xfrm>
          <a:prstGeom prst="rect">
            <a:avLst/>
          </a:prstGeom>
          <a:noFill/>
          <a:ln/>
        </p:spPr>
        <p:txBody>
          <a:bodyPr wrap="square" lIns="0" tIns="0" rIns="0" bIns="0" rtlCol="0" anchor="t"/>
          <a:lstStyle/>
          <a:p>
            <a:pPr indent="0" marL="0">
              <a:buNone/>
            </a:pPr>
            <a:r>
              <a:rPr lang="en-US" sz="1500" dirty="0">
                <a:solidFill>
                  <a:schemeClr val="accent5"/>
                </a:solidFill>
              </a:rPr>
              <a:t>Every number comes from the audit log</a:t>
            </a:r>
            <a:endParaRPr lang="en-US" sz="1500" dirty="0"/>
          </a:p>
        </p:txBody>
      </p:sp>
      <p:sp>
        <p:nvSpPr>
          <p:cNvPr id="24" name="url"/>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Open at http://127.0.0.1:8000/dashboard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Tab 1 · Security Testing: real attacks, run live</a:t>
            </a:r>
            <a:endParaRPr lang="en-US" sz="3200" dirty="0"/>
          </a:p>
        </p:txBody>
      </p:sp>
      <p:sp>
        <p:nvSpPr>
          <p:cNvPr id="3" name="panels heading"/>
          <p:cNvSpPr txBox="1"/>
          <p:nvPr/>
        </p:nvSpPr>
        <p:spPr>
          <a:xfrm>
            <a:off x="548640" y="1463040"/>
            <a:ext cx="4206240" cy="411480"/>
          </a:xfrm>
          <a:prstGeom prst="rect">
            <a:avLst/>
          </a:prstGeom>
          <a:noFill/>
          <a:ln/>
        </p:spPr>
        <p:txBody>
          <a:bodyPr wrap="square" lIns="0" tIns="0" rIns="0" bIns="0" rtlCol="0" anchor="t"/>
          <a:lstStyle/>
          <a:p>
            <a:pPr indent="0" marL="0">
              <a:buNone/>
            </a:pPr>
            <a:r>
              <a:rPr lang="en-US" sz="1800" b="1" dirty="0">
                <a:solidFill>
                  <a:schemeClr val="tx1"/>
                </a:solidFill>
              </a:rPr>
              <a:t>What is on the tab</a:t>
            </a:r>
            <a:endParaRPr lang="en-US" sz="1800" dirty="0"/>
          </a:p>
        </p:txBody>
      </p:sp>
      <p:sp>
        <p:nvSpPr>
          <p:cNvPr id="4" name="panel 1"/>
          <p:cNvSpPr/>
          <p:nvPr/>
        </p:nvSpPr>
        <p:spPr>
          <a:xfrm>
            <a:off x="548640" y="2011680"/>
            <a:ext cx="384048" cy="384048"/>
          </a:xfrm>
          <a:prstGeom prst="ellipse">
            <a:avLst/>
          </a:prstGeom>
          <a:solidFill>
            <a:schemeClr val="accent1"/>
          </a:solidFill>
          <a:ln w="12700">
            <a:solidFill>
              <a:schemeClr val="accent1"/>
            </a:solidFill>
            <a:prstDash val="solid"/>
          </a:ln>
        </p:spPr>
      </p:sp>
      <p:sp>
        <p:nvSpPr>
          <p:cNvPr id="5" name="panel 1 label"/>
          <p:cNvSpPr txBox="1"/>
          <p:nvPr/>
        </p:nvSpPr>
        <p:spPr>
          <a:xfrm>
            <a:off x="548640" y="2011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panel 1 text"/>
          <p:cNvSpPr txBox="1"/>
          <p:nvPr/>
        </p:nvSpPr>
        <p:spPr>
          <a:xfrm>
            <a:off x="1097280" y="2011680"/>
            <a:ext cx="3749040" cy="384048"/>
          </a:xfrm>
          <a:prstGeom prst="rect">
            <a:avLst/>
          </a:prstGeom>
          <a:noFill/>
          <a:ln/>
        </p:spPr>
        <p:txBody>
          <a:bodyPr wrap="square" lIns="0" tIns="0" rIns="0" bIns="0" rtlCol="0" anchor="ctr"/>
          <a:lstStyle/>
          <a:p>
            <a:pPr indent="0" marL="0">
              <a:buNone/>
            </a:pPr>
            <a:r>
              <a:rPr lang="en-US" sz="1500" dirty="0">
                <a:solidFill>
                  <a:schemeClr val="tx1"/>
                </a:solidFill>
              </a:rPr>
              <a:t>Five summary cards (total, allowed, blocked…)</a:t>
            </a:r>
            <a:endParaRPr lang="en-US" sz="1500" dirty="0"/>
          </a:p>
        </p:txBody>
      </p:sp>
      <p:sp>
        <p:nvSpPr>
          <p:cNvPr id="7" name="panel 2"/>
          <p:cNvSpPr/>
          <p:nvPr/>
        </p:nvSpPr>
        <p:spPr>
          <a:xfrm>
            <a:off x="548640" y="2633472"/>
            <a:ext cx="384048" cy="384048"/>
          </a:xfrm>
          <a:prstGeom prst="ellipse">
            <a:avLst/>
          </a:prstGeom>
          <a:solidFill>
            <a:schemeClr val="accent1"/>
          </a:solidFill>
          <a:ln w="12700">
            <a:solidFill>
              <a:schemeClr val="accent1"/>
            </a:solidFill>
            <a:prstDash val="solid"/>
          </a:ln>
        </p:spPr>
      </p:sp>
      <p:sp>
        <p:nvSpPr>
          <p:cNvPr id="8" name="panel 2 label"/>
          <p:cNvSpPr txBox="1"/>
          <p:nvPr/>
        </p:nvSpPr>
        <p:spPr>
          <a:xfrm>
            <a:off x="548640" y="2633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panel 2 text"/>
          <p:cNvSpPr txBox="1"/>
          <p:nvPr/>
        </p:nvSpPr>
        <p:spPr>
          <a:xfrm>
            <a:off x="1097280" y="2633472"/>
            <a:ext cx="3749040" cy="384048"/>
          </a:xfrm>
          <a:prstGeom prst="rect">
            <a:avLst/>
          </a:prstGeom>
          <a:noFill/>
          <a:ln/>
        </p:spPr>
        <p:txBody>
          <a:bodyPr wrap="square" lIns="0" tIns="0" rIns="0" bIns="0" rtlCol="0" anchor="ctr"/>
          <a:lstStyle/>
          <a:p>
            <a:pPr indent="0" marL="0">
              <a:buNone/>
            </a:pPr>
            <a:r>
              <a:rPr lang="en-US" sz="1500" dirty="0">
                <a:solidFill>
                  <a:schemeClr val="tx1"/>
                </a:solidFill>
              </a:rPr>
              <a:t>Demo users and roles</a:t>
            </a:r>
            <a:endParaRPr lang="en-US" sz="1500" dirty="0"/>
          </a:p>
        </p:txBody>
      </p:sp>
      <p:sp>
        <p:nvSpPr>
          <p:cNvPr id="10" name="panel 3"/>
          <p:cNvSpPr/>
          <p:nvPr/>
        </p:nvSpPr>
        <p:spPr>
          <a:xfrm>
            <a:off x="548640" y="3255264"/>
            <a:ext cx="384048" cy="384048"/>
          </a:xfrm>
          <a:prstGeom prst="ellipse">
            <a:avLst/>
          </a:prstGeom>
          <a:solidFill>
            <a:schemeClr val="accent1"/>
          </a:solidFill>
          <a:ln w="12700">
            <a:solidFill>
              <a:schemeClr val="accent1"/>
            </a:solidFill>
            <a:prstDash val="solid"/>
          </a:ln>
        </p:spPr>
      </p:sp>
      <p:sp>
        <p:nvSpPr>
          <p:cNvPr id="11" name="panel 3 label"/>
          <p:cNvSpPr txBox="1"/>
          <p:nvPr/>
        </p:nvSpPr>
        <p:spPr>
          <a:xfrm>
            <a:off x="548640" y="32552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panel 3 text"/>
          <p:cNvSpPr txBox="1"/>
          <p:nvPr/>
        </p:nvSpPr>
        <p:spPr>
          <a:xfrm>
            <a:off x="1097280" y="3255264"/>
            <a:ext cx="3749040" cy="384048"/>
          </a:xfrm>
          <a:prstGeom prst="rect">
            <a:avLst/>
          </a:prstGeom>
          <a:noFill/>
          <a:ln/>
        </p:spPr>
        <p:txBody>
          <a:bodyPr wrap="square" lIns="0" tIns="0" rIns="0" bIns="0" rtlCol="0" anchor="ctr"/>
          <a:lstStyle/>
          <a:p>
            <a:pPr indent="0" marL="0">
              <a:buNone/>
            </a:pPr>
            <a:r>
              <a:rPr lang="en-US" sz="1500" dirty="0">
                <a:solidFill>
                  <a:schemeClr val="tx1"/>
                </a:solidFill>
              </a:rPr>
              <a:t>GraphQL test console</a:t>
            </a:r>
            <a:endParaRPr lang="en-US" sz="1500" dirty="0"/>
          </a:p>
        </p:txBody>
      </p:sp>
      <p:sp>
        <p:nvSpPr>
          <p:cNvPr id="13" name="panel 4"/>
          <p:cNvSpPr/>
          <p:nvPr/>
        </p:nvSpPr>
        <p:spPr>
          <a:xfrm>
            <a:off x="548640" y="3877056"/>
            <a:ext cx="384048" cy="384048"/>
          </a:xfrm>
          <a:prstGeom prst="ellipse">
            <a:avLst/>
          </a:prstGeom>
          <a:solidFill>
            <a:schemeClr val="accent1"/>
          </a:solidFill>
          <a:ln w="12700">
            <a:solidFill>
              <a:schemeClr val="accent1"/>
            </a:solidFill>
            <a:prstDash val="solid"/>
          </a:ln>
        </p:spPr>
      </p:sp>
      <p:sp>
        <p:nvSpPr>
          <p:cNvPr id="14" name="panel 4 label"/>
          <p:cNvSpPr txBox="1"/>
          <p:nvPr/>
        </p:nvSpPr>
        <p:spPr>
          <a:xfrm>
            <a:off x="548640" y="38770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panel 4 text"/>
          <p:cNvSpPr txBox="1"/>
          <p:nvPr/>
        </p:nvSpPr>
        <p:spPr>
          <a:xfrm>
            <a:off x="1097280" y="3877056"/>
            <a:ext cx="3749040" cy="384048"/>
          </a:xfrm>
          <a:prstGeom prst="rect">
            <a:avLst/>
          </a:prstGeom>
          <a:noFill/>
          <a:ln/>
        </p:spPr>
        <p:txBody>
          <a:bodyPr wrap="square" lIns="0" tIns="0" rIns="0" bIns="0" rtlCol="0" anchor="ctr"/>
          <a:lstStyle/>
          <a:p>
            <a:pPr indent="0" marL="0">
              <a:buNone/>
            </a:pPr>
            <a:r>
              <a:rPr lang="en-US" sz="1500" dirty="0">
                <a:solidFill>
                  <a:schemeClr val="tx1"/>
                </a:solidFill>
              </a:rPr>
              <a:t>Per-request flow, five steps</a:t>
            </a:r>
            <a:endParaRPr lang="en-US" sz="1500" dirty="0"/>
          </a:p>
        </p:txBody>
      </p:sp>
      <p:sp>
        <p:nvSpPr>
          <p:cNvPr id="16" name="panel 5"/>
          <p:cNvSpPr/>
          <p:nvPr/>
        </p:nvSpPr>
        <p:spPr>
          <a:xfrm>
            <a:off x="548640" y="4498848"/>
            <a:ext cx="384048" cy="384048"/>
          </a:xfrm>
          <a:prstGeom prst="ellipse">
            <a:avLst/>
          </a:prstGeom>
          <a:solidFill>
            <a:schemeClr val="accent1"/>
          </a:solidFill>
          <a:ln w="12700">
            <a:solidFill>
              <a:schemeClr val="accent1"/>
            </a:solidFill>
            <a:prstDash val="solid"/>
          </a:ln>
        </p:spPr>
      </p:sp>
      <p:sp>
        <p:nvSpPr>
          <p:cNvPr id="17" name="panel 5 label"/>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panel 5 text"/>
          <p:cNvSpPr txBox="1"/>
          <p:nvPr/>
        </p:nvSpPr>
        <p:spPr>
          <a:xfrm>
            <a:off x="1097280" y="4498848"/>
            <a:ext cx="3749040" cy="384048"/>
          </a:xfrm>
          <a:prstGeom prst="rect">
            <a:avLst/>
          </a:prstGeom>
          <a:noFill/>
          <a:ln/>
        </p:spPr>
        <p:txBody>
          <a:bodyPr wrap="square" lIns="0" tIns="0" rIns="0" bIns="0" rtlCol="0" anchor="ctr"/>
          <a:lstStyle/>
          <a:p>
            <a:pPr indent="0" marL="0">
              <a:buNone/>
            </a:pPr>
            <a:r>
              <a:rPr lang="en-US" sz="1500" dirty="0">
                <a:solidFill>
                  <a:schemeClr val="tx1"/>
                </a:solidFill>
              </a:rPr>
              <a:t>Dual-layer defense counters</a:t>
            </a:r>
            <a:endParaRPr lang="en-US" sz="1500" dirty="0"/>
          </a:p>
        </p:txBody>
      </p:sp>
      <p:sp>
        <p:nvSpPr>
          <p:cNvPr id="19" name="panel 6"/>
          <p:cNvSpPr/>
          <p:nvPr/>
        </p:nvSpPr>
        <p:spPr>
          <a:xfrm>
            <a:off x="548640" y="5120640"/>
            <a:ext cx="384048" cy="384048"/>
          </a:xfrm>
          <a:prstGeom prst="ellipse">
            <a:avLst/>
          </a:prstGeom>
          <a:solidFill>
            <a:schemeClr val="accent1"/>
          </a:solidFill>
          <a:ln w="12700">
            <a:solidFill>
              <a:schemeClr val="accent1"/>
            </a:solidFill>
            <a:prstDash val="solid"/>
          </a:ln>
        </p:spPr>
      </p:sp>
      <p:sp>
        <p:nvSpPr>
          <p:cNvPr id="20" name="panel 6 label"/>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panel 6 text"/>
          <p:cNvSpPr txBox="1"/>
          <p:nvPr/>
        </p:nvSpPr>
        <p:spPr>
          <a:xfrm>
            <a:off x="1097280" y="5120640"/>
            <a:ext cx="3749040" cy="384048"/>
          </a:xfrm>
          <a:prstGeom prst="rect">
            <a:avLst/>
          </a:prstGeom>
          <a:noFill/>
          <a:ln/>
        </p:spPr>
        <p:txBody>
          <a:bodyPr wrap="square" lIns="0" tIns="0" rIns="0" bIns="0" rtlCol="0" anchor="ctr"/>
          <a:lstStyle/>
          <a:p>
            <a:pPr indent="0" marL="0">
              <a:buNone/>
            </a:pPr>
            <a:r>
              <a:rPr lang="en-US" sz="1500" dirty="0">
                <a:solidFill>
                  <a:schemeClr val="tx1"/>
                </a:solidFill>
              </a:rPr>
              <a:t>Where taint analysis fits</a:t>
            </a:r>
            <a:endParaRPr lang="en-US" sz="1500" dirty="0"/>
          </a:p>
        </p:txBody>
      </p:sp>
      <p:graphicFrame>
        <p:nvGraphicFramePr>
          <p:cNvPr id="10" name="scenario table"/>
          <p:cNvGraphicFramePr>
            <a:graphicFrameLocks noGrp="1"/>
          </p:cNvGraphicFramePr>
          <p:nvPr>
            <p:extLst>
              <p:ext uri="{D42A27DB-BD31-4B8C-83A1-F6EECF244321}">
                <p14:modId xmlns:p14="http://schemas.microsoft.com/office/powerpoint/2010/main" val="1579011935"/>
              </p:ext>
            </p:extLst>
          </p:nvPr>
        </p:nvGraphicFramePr>
        <p:xfrm>
          <a:off x="5212080" y="1463040"/>
          <a:ext cx="6400800" cy="914400"/>
        </p:xfrm>
        <a:graphic>
          <a:graphicData uri="http://schemas.openxmlformats.org/drawingml/2006/table">
            <a:tbl>
              <a:tblPr/>
              <a:tblGrid>
                <a:gridCol w="2103120"/>
                <a:gridCol w="2651760"/>
                <a:gridCol w="164592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scenario</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1D2B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tries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1D2B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1D2B47"/>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Direct lookup</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Ask for ID 102 directly</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C93C3C"/>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Nested lookup</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Hide 102 deeper in the query</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C93C3C"/>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Children of folder 201</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Reach 204 without its ID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17945F"/>
                          </a:solidFill>
                          <a:latin typeface="Calibri" pitchFamily="34" charset="0"/>
                          <a:ea typeface="Calibri" pitchFamily="34" charset="-122"/>
                          <a:cs typeface="Calibri" pitchFamily="34" charset="-120"/>
                        </a:rPr>
                        <a:t>204 removed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Inline fragment</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Hide the request in special syntax</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C93C3C"/>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Batch of 2</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Mix an attack with a harmless query</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C93C3C"/>
                          </a:solidFill>
                          <a:latin typeface="Calibri" pitchFamily="34" charset="0"/>
                          <a:ea typeface="Calibri" pitchFamily="34" charset="-122"/>
                          <a:cs typeface="Calibri" pitchFamily="34" charset="-120"/>
                        </a:rPr>
                        <a:t>Blocked, 403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Rename / delete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0B1426"/>
                          </a:solidFill>
                          <a:latin typeface="Calibri" pitchFamily="34" charset="0"/>
                          <a:ea typeface="Calibri" pitchFamily="34" charset="-122"/>
                          <a:cs typeface="Calibri" pitchFamily="34" charset="-120"/>
                        </a:rPr>
                        <a:t>Change someone else's data</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b="1" dirty="0">
                          <a:solidFill>
                            <a:srgbClr val="C93C3C"/>
                          </a:solidFill>
                          <a:latin typeface="Calibri" pitchFamily="34" charset="0"/>
                          <a:ea typeface="Calibri" pitchFamily="34" charset="-122"/>
                          <a:cs typeface="Calibri" pitchFamily="34" charset="-120"/>
                        </a:rPr>
                        <a:t>Blocked, unchanged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3" name="table note"/>
          <p:cNvSpPr txBox="1"/>
          <p:nvPr/>
        </p:nvSpPr>
        <p:spPr>
          <a:xfrm>
            <a:off x="5212080" y="5623560"/>
            <a:ext cx="6400800" cy="457200"/>
          </a:xfrm>
          <a:prstGeom prst="rect">
            <a:avLst/>
          </a:prstGeom>
          <a:noFill/>
          <a:ln/>
        </p:spPr>
        <p:txBody>
          <a:bodyPr wrap="square" lIns="0" tIns="0" rIns="0" bIns="0" rtlCol="0" anchor="t"/>
          <a:lstStyle/>
          <a:p>
            <a:pPr indent="0" marL="0">
              <a:buNone/>
            </a:pPr>
            <a:r>
              <a:rPr lang="en-US" sz="1300" dirty="0">
                <a:solidFill>
                  <a:schemeClr val="accent5"/>
                </a:solidFill>
              </a:rPr>
              <a:t>Logged in as Balanilavan on the protected endpoint. 102 and 204 belong to Kapilesh.</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Tab 2 · Research &amp; ML: two models that only advise</a:t>
            </a:r>
            <a:endParaRPr lang="en-US" sz="3200" dirty="0"/>
          </a:p>
        </p:txBody>
      </p:sp>
      <p:sp>
        <p:nvSpPr>
          <p:cNvPr id="3" name="model 1 card"/>
          <p:cNvSpPr/>
          <p:nvPr/>
        </p:nvSpPr>
        <p:spPr>
          <a:xfrm>
            <a:off x="548640" y="1554480"/>
            <a:ext cx="5440680" cy="3383280"/>
          </a:xfrm>
          <a:prstGeom prst="roundRect">
            <a:avLst>
              <a:gd name="adj" fmla="val 3243"/>
            </a:avLst>
          </a:prstGeom>
          <a:solidFill>
            <a:schemeClr val="bg2"/>
          </a:solidFill>
          <a:ln w="12700">
            <a:solidFill>
              <a:schemeClr val="bg2"/>
            </a:solidFill>
            <a:prstDash val="solid"/>
          </a:ln>
        </p:spPr>
      </p:sp>
      <p:sp>
        <p:nvSpPr>
          <p:cNvPr id="4" name="model 1 header"/>
          <p:cNvSpPr/>
          <p:nvPr/>
        </p:nvSpPr>
        <p:spPr>
          <a:xfrm>
            <a:off x="548640" y="1554480"/>
            <a:ext cx="5440680" cy="1051560"/>
          </a:xfrm>
          <a:prstGeom prst="roundRect">
            <a:avLst>
              <a:gd name="adj" fmla="val 10435"/>
            </a:avLst>
          </a:prstGeom>
          <a:solidFill>
            <a:schemeClr val="tx2"/>
          </a:solidFill>
          <a:ln w="12700">
            <a:solidFill>
              <a:schemeClr val="tx2"/>
            </a:solidFill>
            <a:prstDash val="solid"/>
          </a:ln>
        </p:spPr>
      </p:sp>
      <p:sp>
        <p:nvSpPr>
          <p:cNvPr id="5" name="model 1 heading"/>
          <p:cNvSpPr txBox="1"/>
          <p:nvPr/>
        </p:nvSpPr>
        <p:spPr>
          <a:xfrm>
            <a:off x="868680" y="1645920"/>
            <a:ext cx="4846320" cy="457200"/>
          </a:xfrm>
          <a:prstGeom prst="rect">
            <a:avLst/>
          </a:prstGeom>
          <a:noFill/>
          <a:ln/>
        </p:spPr>
        <p:txBody>
          <a:bodyPr wrap="square" lIns="0" tIns="0" rIns="0" bIns="0" rtlCol="0" anchor="t"/>
          <a:lstStyle/>
          <a:p>
            <a:pPr indent="0" marL="0">
              <a:buNone/>
            </a:pPr>
            <a:r>
              <a:rPr lang="en-US" sz="2200" b="1" dirty="0">
                <a:solidFill>
                  <a:schemeClr val="bg1"/>
                </a:solidFill>
              </a:rPr>
              <a:t>Behavioural model</a:t>
            </a:r>
            <a:endParaRPr lang="en-US" sz="2200" dirty="0"/>
          </a:p>
        </p:txBody>
      </p:sp>
      <p:sp>
        <p:nvSpPr>
          <p:cNvPr id="6" name="model 1 tag"/>
          <p:cNvSpPr txBox="1"/>
          <p:nvPr/>
        </p:nvSpPr>
        <p:spPr>
          <a:xfrm>
            <a:off x="868680" y="2103120"/>
            <a:ext cx="4846320" cy="365760"/>
          </a:xfrm>
          <a:prstGeom prst="rect">
            <a:avLst/>
          </a:prstGeom>
          <a:noFill/>
          <a:ln/>
        </p:spPr>
        <p:txBody>
          <a:bodyPr wrap="square" lIns="0" tIns="0" rIns="0" bIns="0" rtlCol="0" anchor="t"/>
          <a:lstStyle/>
          <a:p>
            <a:pPr indent="0" marL="0">
              <a:buNone/>
            </a:pPr>
            <a:r>
              <a:rPr lang="en-US" sz="1500" dirty="0">
                <a:solidFill>
                  <a:schemeClr val="bg1"/>
                </a:solidFill>
              </a:rPr>
              <a:t>Watches each user over time</a:t>
            </a:r>
            <a:endParaRPr lang="en-US" sz="1500" dirty="0"/>
          </a:p>
        </p:txBody>
      </p:sp>
      <p:sp>
        <p:nvSpPr>
          <p:cNvPr id="7" name="model 1 points"/>
          <p:cNvSpPr txBox="1"/>
          <p:nvPr/>
        </p:nvSpPr>
        <p:spPr>
          <a:xfrm>
            <a:off x="868680" y="288036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Speed, denials, attempts on others' data, IDs tried in order</a:t>
            </a:r>
            <a:endParaRPr lang="en-US" sz="1600" dirty="0"/>
          </a:p>
          <a:p>
            <a:pPr marL="342900" indent="-342900">
              <a:spcAft>
                <a:spcPts val="1000"/>
              </a:spcAft>
              <a:buSzPct val="100000"/>
              <a:buChar char="•"/>
            </a:pPr>
            <a:r>
              <a:rPr lang="en-US" sz="1600" dirty="0">
                <a:solidFill>
                  <a:schemeClr val="tx1"/>
                </a:solidFill>
              </a:rPr>
              <a:t>Gives each user a risk level: low to critical</a:t>
            </a:r>
            <a:endParaRPr lang="en-US" sz="1600" dirty="0"/>
          </a:p>
          <a:p>
            <a:pPr marL="342900" indent="-342900">
              <a:spcAft>
                <a:spcPts val="1000"/>
              </a:spcAft>
              <a:buSzPct val="100000"/>
              <a:buChar char="•"/>
            </a:pPr>
            <a:r>
              <a:rPr lang="en-US" sz="1600" dirty="0">
                <a:solidFill>
                  <a:schemeClr val="tx1"/>
                </a:solidFill>
              </a:rPr>
              <a:t>Honest result: a simple rule did as well (100% vs 99.2%)</a:t>
            </a:r>
            <a:endParaRPr lang="en-US" sz="1600" dirty="0"/>
          </a:p>
        </p:txBody>
      </p:sp>
      <p:sp>
        <p:nvSpPr>
          <p:cNvPr id="8" name="model 2 card"/>
          <p:cNvSpPr/>
          <p:nvPr/>
        </p:nvSpPr>
        <p:spPr>
          <a:xfrm>
            <a:off x="6172200" y="1554480"/>
            <a:ext cx="5440680" cy="3383280"/>
          </a:xfrm>
          <a:prstGeom prst="roundRect">
            <a:avLst>
              <a:gd name="adj" fmla="val 3243"/>
            </a:avLst>
          </a:prstGeom>
          <a:solidFill>
            <a:schemeClr val="bg2"/>
          </a:solidFill>
          <a:ln w="12700">
            <a:solidFill>
              <a:schemeClr val="bg2"/>
            </a:solidFill>
            <a:prstDash val="solid"/>
          </a:ln>
        </p:spPr>
      </p:sp>
      <p:sp>
        <p:nvSpPr>
          <p:cNvPr id="9" name="model 2 header"/>
          <p:cNvSpPr/>
          <p:nvPr/>
        </p:nvSpPr>
        <p:spPr>
          <a:xfrm>
            <a:off x="6172200" y="1554480"/>
            <a:ext cx="5440680" cy="1051560"/>
          </a:xfrm>
          <a:prstGeom prst="roundRect">
            <a:avLst>
              <a:gd name="adj" fmla="val 10435"/>
            </a:avLst>
          </a:prstGeom>
          <a:solidFill>
            <a:schemeClr val="accent1"/>
          </a:solidFill>
          <a:ln w="12700">
            <a:solidFill>
              <a:schemeClr val="accent1"/>
            </a:solidFill>
            <a:prstDash val="solid"/>
          </a:ln>
        </p:spPr>
      </p:sp>
      <p:sp>
        <p:nvSpPr>
          <p:cNvPr id="10" name="model 2 heading"/>
          <p:cNvSpPr txBox="1"/>
          <p:nvPr/>
        </p:nvSpPr>
        <p:spPr>
          <a:xfrm>
            <a:off x="6492240" y="1645920"/>
            <a:ext cx="4846320" cy="457200"/>
          </a:xfrm>
          <a:prstGeom prst="rect">
            <a:avLst/>
          </a:prstGeom>
          <a:noFill/>
          <a:ln/>
        </p:spPr>
        <p:txBody>
          <a:bodyPr wrap="square" lIns="0" tIns="0" rIns="0" bIns="0" rtlCol="0" anchor="t"/>
          <a:lstStyle/>
          <a:p>
            <a:pPr indent="0" marL="0">
              <a:buNone/>
            </a:pPr>
            <a:r>
              <a:rPr lang="en-US" sz="2200" b="1" dirty="0">
                <a:solidFill>
                  <a:schemeClr val="bg1"/>
                </a:solidFill>
              </a:rPr>
              <a:t>Blind-spot predictor</a:t>
            </a:r>
            <a:endParaRPr lang="en-US" sz="2200" dirty="0"/>
          </a:p>
        </p:txBody>
      </p:sp>
      <p:sp>
        <p:nvSpPr>
          <p:cNvPr id="11" name="model 2 tag"/>
          <p:cNvSpPr txBox="1"/>
          <p:nvPr/>
        </p:nvSpPr>
        <p:spPr>
          <a:xfrm>
            <a:off x="6492240" y="2103120"/>
            <a:ext cx="4846320" cy="365760"/>
          </a:xfrm>
          <a:prstGeom prst="rect">
            <a:avLst/>
          </a:prstGeom>
          <a:noFill/>
          <a:ln/>
        </p:spPr>
        <p:txBody>
          <a:bodyPr wrap="square" lIns="0" tIns="0" rIns="0" bIns="0" rtlCol="0" anchor="t"/>
          <a:lstStyle/>
          <a:p>
            <a:pPr indent="0" marL="0">
              <a:buNone/>
            </a:pPr>
            <a:r>
              <a:rPr lang="en-US" sz="1500" dirty="0">
                <a:solidFill>
                  <a:schemeClr val="bg1"/>
                </a:solidFill>
              </a:rPr>
              <a:t>Our main contribution</a:t>
            </a:r>
            <a:endParaRPr lang="en-US" sz="1500" dirty="0"/>
          </a:p>
        </p:txBody>
      </p:sp>
      <p:sp>
        <p:nvSpPr>
          <p:cNvPr id="12" name="model 2 points"/>
          <p:cNvSpPr txBox="1"/>
          <p:nvPr/>
        </p:nvSpPr>
        <p:spPr>
          <a:xfrm>
            <a:off x="6492240" y="288036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Predicts before running: will Layer 1 miss this query?</a:t>
            </a:r>
            <a:endParaRPr lang="en-US" sz="1600" dirty="0"/>
          </a:p>
          <a:p>
            <a:pPr marL="342900" indent="-342900">
              <a:spcAft>
                <a:spcPts val="1000"/>
              </a:spcAft>
              <a:buSzPct val="100000"/>
              <a:buChar char="•"/>
            </a:pPr>
            <a:r>
              <a:rPr lang="en-US" sz="1600" dirty="0">
                <a:solidFill>
                  <a:schemeClr val="tx1"/>
                </a:solidFill>
              </a:rPr>
              <a:t>Trained on Layer 2's notes, no manual labels</a:t>
            </a:r>
            <a:endParaRPr lang="en-US" sz="1600" dirty="0"/>
          </a:p>
          <a:p>
            <a:pPr marL="342900" indent="-342900">
              <a:spcAft>
                <a:spcPts val="1000"/>
              </a:spcAft>
              <a:buSzPct val="100000"/>
              <a:buChar char="•"/>
            </a:pPr>
            <a:r>
              <a:rPr lang="en-US" sz="1600" dirty="0">
                <a:solidFill>
                  <a:schemeClr val="tx1"/>
                </a:solidFill>
              </a:rPr>
              <a:t>Found the variable-default bug; scores any query live</a:t>
            </a:r>
            <a:endParaRPr lang="en-US" sz="1600" dirty="0"/>
          </a:p>
        </p:txBody>
      </p:sp>
      <p:sp>
        <p:nvSpPr>
          <p:cNvPr id="13" name="advisory card"/>
          <p:cNvSpPr/>
          <p:nvPr/>
        </p:nvSpPr>
        <p:spPr>
          <a:xfrm>
            <a:off x="548640" y="5166360"/>
            <a:ext cx="11064240" cy="640080"/>
          </a:xfrm>
          <a:prstGeom prst="roundRect">
            <a:avLst>
              <a:gd name="adj" fmla="val 17143"/>
            </a:avLst>
          </a:prstGeom>
          <a:solidFill>
            <a:schemeClr val="tx1"/>
          </a:solidFill>
          <a:ln w="12700">
            <a:solidFill>
              <a:schemeClr val="tx1"/>
            </a:solidFill>
            <a:prstDash val="solid"/>
          </a:ln>
        </p:spPr>
      </p:sp>
      <p:sp>
        <p:nvSpPr>
          <p:cNvPr id="14" name="advisory text"/>
          <p:cNvSpPr txBox="1"/>
          <p:nvPr/>
        </p:nvSpPr>
        <p:spPr>
          <a:xfrm>
            <a:off x="822960" y="5166360"/>
            <a:ext cx="10515600" cy="640080"/>
          </a:xfrm>
          <a:prstGeom prst="rect">
            <a:avLst/>
          </a:prstGeom>
          <a:noFill/>
          <a:ln/>
        </p:spPr>
        <p:txBody>
          <a:bodyPr wrap="square" lIns="0" tIns="0" rIns="0" bIns="0" rtlCol="0" anchor="ctr"/>
          <a:lstStyle/>
          <a:p>
            <a:pPr indent="0" marL="0">
              <a:buNone/>
            </a:pPr>
            <a:r>
              <a:rPr lang="en-US" sz="1500" dirty="0">
                <a:solidFill>
                  <a:schemeClr val="bg1"/>
                </a:solidFill>
              </a:rPr>
              <a:t>Neither model can allow or block a request. Layer 1 and Layer 2 make every decision with fixed ownership rules.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Tab 3 · Audit &amp; Verification: the evidence for every decision</a:t>
            </a:r>
            <a:endParaRPr lang="en-US" sz="3200" dirty="0"/>
          </a:p>
        </p:txBody>
      </p:sp>
      <p:sp>
        <p:nvSpPr>
          <p:cNvPr id="3" name="audit item 1"/>
          <p:cNvSpPr/>
          <p:nvPr/>
        </p:nvSpPr>
        <p:spPr>
          <a:xfrm>
            <a:off x="548640" y="1600200"/>
            <a:ext cx="3474720" cy="1920240"/>
          </a:xfrm>
          <a:prstGeom prst="roundRect">
            <a:avLst>
              <a:gd name="adj" fmla="val 5714"/>
            </a:avLst>
          </a:prstGeom>
          <a:solidFill>
            <a:schemeClr val="bg2"/>
          </a:solidFill>
          <a:ln w="12700">
            <a:solidFill>
              <a:schemeClr val="bg2"/>
            </a:solidFill>
            <a:prstDash val="solid"/>
          </a:ln>
        </p:spPr>
      </p:sp>
      <p:sp>
        <p:nvSpPr>
          <p:cNvPr id="4" name="audit 1"/>
          <p:cNvSpPr/>
          <p:nvPr/>
        </p:nvSpPr>
        <p:spPr>
          <a:xfrm>
            <a:off x="822960" y="1874520"/>
            <a:ext cx="457200" cy="457200"/>
          </a:xfrm>
          <a:prstGeom prst="ellipse">
            <a:avLst/>
          </a:prstGeom>
          <a:solidFill>
            <a:schemeClr val="accent2"/>
          </a:solidFill>
          <a:ln w="12700">
            <a:solidFill>
              <a:schemeClr val="accent2"/>
            </a:solidFill>
            <a:prstDash val="solid"/>
          </a:ln>
        </p:spPr>
      </p:sp>
      <p:sp>
        <p:nvSpPr>
          <p:cNvPr id="5" name="audit 1 label"/>
          <p:cNvSpPr txBox="1"/>
          <p:nvPr/>
        </p:nvSpPr>
        <p:spPr>
          <a:xfrm>
            <a:off x="82296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audit 1 heading"/>
          <p:cNvSpPr txBox="1"/>
          <p:nvPr/>
        </p:nvSpPr>
        <p:spPr>
          <a:xfrm>
            <a:off x="822960" y="2468880"/>
            <a:ext cx="2926080" cy="411480"/>
          </a:xfrm>
          <a:prstGeom prst="rect">
            <a:avLst/>
          </a:prstGeom>
          <a:noFill/>
          <a:ln/>
        </p:spPr>
        <p:txBody>
          <a:bodyPr wrap="square" lIns="0" tIns="0" rIns="0" bIns="0" rtlCol="0" anchor="t"/>
          <a:lstStyle/>
          <a:p>
            <a:pPr indent="0" marL="0">
              <a:buNone/>
            </a:pPr>
            <a:r>
              <a:rPr lang="en-US" sz="1800" b="1" dirty="0">
                <a:solidFill>
                  <a:schemeClr val="tx1"/>
                </a:solidFill>
              </a:rPr>
              <a:t>Decision mix</a:t>
            </a:r>
            <a:endParaRPr lang="en-US" sz="1800" dirty="0"/>
          </a:p>
        </p:txBody>
      </p:sp>
      <p:sp>
        <p:nvSpPr>
          <p:cNvPr id="7" name="audit 1 text"/>
          <p:cNvSpPr txBox="1"/>
          <p:nvPr/>
        </p:nvSpPr>
        <p:spPr>
          <a:xfrm>
            <a:off x="822960" y="288036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Ring chart of allowed versus denied decisions</a:t>
            </a:r>
            <a:endParaRPr lang="en-US" sz="1400" dirty="0"/>
          </a:p>
        </p:txBody>
      </p:sp>
      <p:sp>
        <p:nvSpPr>
          <p:cNvPr id="8" name="audit item 2"/>
          <p:cNvSpPr/>
          <p:nvPr/>
        </p:nvSpPr>
        <p:spPr>
          <a:xfrm>
            <a:off x="4297680" y="1600200"/>
            <a:ext cx="3474720" cy="1920240"/>
          </a:xfrm>
          <a:prstGeom prst="roundRect">
            <a:avLst>
              <a:gd name="adj" fmla="val 5714"/>
            </a:avLst>
          </a:prstGeom>
          <a:solidFill>
            <a:schemeClr val="bg2"/>
          </a:solidFill>
          <a:ln w="12700">
            <a:solidFill>
              <a:schemeClr val="bg2"/>
            </a:solidFill>
            <a:prstDash val="solid"/>
          </a:ln>
        </p:spPr>
      </p:sp>
      <p:sp>
        <p:nvSpPr>
          <p:cNvPr id="9" name="audit 2"/>
          <p:cNvSpPr/>
          <p:nvPr/>
        </p:nvSpPr>
        <p:spPr>
          <a:xfrm>
            <a:off x="4572000" y="1874520"/>
            <a:ext cx="457200" cy="457200"/>
          </a:xfrm>
          <a:prstGeom prst="ellipse">
            <a:avLst/>
          </a:prstGeom>
          <a:solidFill>
            <a:schemeClr val="accent2"/>
          </a:solidFill>
          <a:ln w="12700">
            <a:solidFill>
              <a:schemeClr val="accent2"/>
            </a:solidFill>
            <a:prstDash val="solid"/>
          </a:ln>
        </p:spPr>
      </p:sp>
      <p:sp>
        <p:nvSpPr>
          <p:cNvPr id="10" name="audit 2 label"/>
          <p:cNvSpPr txBox="1"/>
          <p:nvPr/>
        </p:nvSpPr>
        <p:spPr>
          <a:xfrm>
            <a:off x="457200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audit 2 heading"/>
          <p:cNvSpPr txBox="1"/>
          <p:nvPr/>
        </p:nvSpPr>
        <p:spPr>
          <a:xfrm>
            <a:off x="4572000" y="2468880"/>
            <a:ext cx="2926080" cy="411480"/>
          </a:xfrm>
          <a:prstGeom prst="rect">
            <a:avLst/>
          </a:prstGeom>
          <a:noFill/>
          <a:ln/>
        </p:spPr>
        <p:txBody>
          <a:bodyPr wrap="square" lIns="0" tIns="0" rIns="0" bIns="0" rtlCol="0" anchor="t"/>
          <a:lstStyle/>
          <a:p>
            <a:pPr indent="0" marL="0">
              <a:buNone/>
            </a:pPr>
            <a:r>
              <a:rPr lang="en-US" sz="1800" b="1" dirty="0">
                <a:solidFill>
                  <a:schemeClr val="tx1"/>
                </a:solidFill>
              </a:rPr>
              <a:t>Authorization overview</a:t>
            </a:r>
            <a:endParaRPr lang="en-US" sz="1800" dirty="0"/>
          </a:p>
        </p:txBody>
      </p:sp>
      <p:sp>
        <p:nvSpPr>
          <p:cNvPr id="12" name="audit 2 text"/>
          <p:cNvSpPr txBox="1"/>
          <p:nvPr/>
        </p:nvSpPr>
        <p:spPr>
          <a:xfrm>
            <a:off x="4572000" y="288036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Allowed, denied and high-risk counts side by side</a:t>
            </a:r>
            <a:endParaRPr lang="en-US" sz="1400" dirty="0"/>
          </a:p>
        </p:txBody>
      </p:sp>
      <p:sp>
        <p:nvSpPr>
          <p:cNvPr id="13" name="audit item 3"/>
          <p:cNvSpPr/>
          <p:nvPr/>
        </p:nvSpPr>
        <p:spPr>
          <a:xfrm>
            <a:off x="8046720" y="1600200"/>
            <a:ext cx="3474720" cy="1920240"/>
          </a:xfrm>
          <a:prstGeom prst="roundRect">
            <a:avLst>
              <a:gd name="adj" fmla="val 5714"/>
            </a:avLst>
          </a:prstGeom>
          <a:solidFill>
            <a:schemeClr val="bg2"/>
          </a:solidFill>
          <a:ln w="12700">
            <a:solidFill>
              <a:schemeClr val="bg2"/>
            </a:solidFill>
            <a:prstDash val="solid"/>
          </a:ln>
        </p:spPr>
      </p:sp>
      <p:sp>
        <p:nvSpPr>
          <p:cNvPr id="14" name="audit 3"/>
          <p:cNvSpPr/>
          <p:nvPr/>
        </p:nvSpPr>
        <p:spPr>
          <a:xfrm>
            <a:off x="8321040" y="1874520"/>
            <a:ext cx="457200" cy="457200"/>
          </a:xfrm>
          <a:prstGeom prst="ellipse">
            <a:avLst/>
          </a:prstGeom>
          <a:solidFill>
            <a:schemeClr val="accent2"/>
          </a:solidFill>
          <a:ln w="12700">
            <a:solidFill>
              <a:schemeClr val="accent2"/>
            </a:solidFill>
            <a:prstDash val="solid"/>
          </a:ln>
        </p:spPr>
      </p:sp>
      <p:sp>
        <p:nvSpPr>
          <p:cNvPr id="15" name="audit 3 label"/>
          <p:cNvSpPr txBox="1"/>
          <p:nvPr/>
        </p:nvSpPr>
        <p:spPr>
          <a:xfrm>
            <a:off x="832104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audit 3 heading"/>
          <p:cNvSpPr txBox="1"/>
          <p:nvPr/>
        </p:nvSpPr>
        <p:spPr>
          <a:xfrm>
            <a:off x="8321040" y="2468880"/>
            <a:ext cx="2926080" cy="411480"/>
          </a:xfrm>
          <a:prstGeom prst="rect">
            <a:avLst/>
          </a:prstGeom>
          <a:noFill/>
          <a:ln/>
        </p:spPr>
        <p:txBody>
          <a:bodyPr wrap="square" lIns="0" tIns="0" rIns="0" bIns="0" rtlCol="0" anchor="t"/>
          <a:lstStyle/>
          <a:p>
            <a:pPr indent="0" marL="0">
              <a:buNone/>
            </a:pPr>
            <a:r>
              <a:rPr lang="en-US" sz="1800" b="1" dirty="0">
                <a:solidFill>
                  <a:schemeClr val="tx1"/>
                </a:solidFill>
              </a:rPr>
              <a:t>Property tests: 6 of 6 pass</a:t>
            </a:r>
            <a:endParaRPr lang="en-US" sz="1800" dirty="0"/>
          </a:p>
        </p:txBody>
      </p:sp>
      <p:sp>
        <p:nvSpPr>
          <p:cNvPr id="17" name="audit 3 text"/>
          <p:cNvSpPr txBox="1"/>
          <p:nvPr/>
        </p:nvSpPr>
        <p:spPr>
          <a:xfrm>
            <a:off x="8321040" y="288036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Security properties our automated tests verify</a:t>
            </a:r>
            <a:endParaRPr lang="en-US" sz="1400" dirty="0"/>
          </a:p>
        </p:txBody>
      </p:sp>
      <p:sp>
        <p:nvSpPr>
          <p:cNvPr id="18" name="audit item 4"/>
          <p:cNvSpPr/>
          <p:nvPr/>
        </p:nvSpPr>
        <p:spPr>
          <a:xfrm>
            <a:off x="548640" y="3794760"/>
            <a:ext cx="3474720" cy="1920240"/>
          </a:xfrm>
          <a:prstGeom prst="roundRect">
            <a:avLst>
              <a:gd name="adj" fmla="val 5714"/>
            </a:avLst>
          </a:prstGeom>
          <a:solidFill>
            <a:schemeClr val="bg2"/>
          </a:solidFill>
          <a:ln w="12700">
            <a:solidFill>
              <a:schemeClr val="bg2"/>
            </a:solidFill>
            <a:prstDash val="solid"/>
          </a:ln>
        </p:spPr>
      </p:sp>
      <p:sp>
        <p:nvSpPr>
          <p:cNvPr id="19" name="audit 4"/>
          <p:cNvSpPr/>
          <p:nvPr/>
        </p:nvSpPr>
        <p:spPr>
          <a:xfrm>
            <a:off x="822960" y="4069080"/>
            <a:ext cx="457200" cy="457200"/>
          </a:xfrm>
          <a:prstGeom prst="ellipse">
            <a:avLst/>
          </a:prstGeom>
          <a:solidFill>
            <a:schemeClr val="accent2"/>
          </a:solidFill>
          <a:ln w="12700">
            <a:solidFill>
              <a:schemeClr val="accent2"/>
            </a:solidFill>
            <a:prstDash val="solid"/>
          </a:ln>
        </p:spPr>
      </p:sp>
      <p:sp>
        <p:nvSpPr>
          <p:cNvPr id="20" name="audit 4 label"/>
          <p:cNvSpPr txBox="1"/>
          <p:nvPr/>
        </p:nvSpPr>
        <p:spPr>
          <a:xfrm>
            <a:off x="822960" y="4069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audit 4 heading"/>
          <p:cNvSpPr txBox="1"/>
          <p:nvPr/>
        </p:nvSpPr>
        <p:spPr>
          <a:xfrm>
            <a:off x="822960" y="4663440"/>
            <a:ext cx="2926080" cy="411480"/>
          </a:xfrm>
          <a:prstGeom prst="rect">
            <a:avLst/>
          </a:prstGeom>
          <a:noFill/>
          <a:ln/>
        </p:spPr>
        <p:txBody>
          <a:bodyPr wrap="square" lIns="0" tIns="0" rIns="0" bIns="0" rtlCol="0" anchor="t"/>
          <a:lstStyle/>
          <a:p>
            <a:pPr indent="0" marL="0">
              <a:buNone/>
            </a:pPr>
            <a:r>
              <a:rPr lang="en-US" sz="1800" b="1" dirty="0">
                <a:solidFill>
                  <a:schemeClr val="tx1"/>
                </a:solidFill>
              </a:rPr>
              <a:t>Decisions with real owners</a:t>
            </a:r>
            <a:endParaRPr lang="en-US" sz="1800" dirty="0"/>
          </a:p>
        </p:txBody>
      </p:sp>
      <p:sp>
        <p:nvSpPr>
          <p:cNvPr id="22" name="audit 4 text"/>
          <p:cNvSpPr txBox="1"/>
          <p:nvPr/>
        </p:nvSpPr>
        <p:spPr>
          <a:xfrm>
            <a:off x="822960" y="507492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Who asked, which object, its true owner: Owned or Foreign</a:t>
            </a:r>
            <a:endParaRPr lang="en-US" sz="1400" dirty="0"/>
          </a:p>
        </p:txBody>
      </p:sp>
      <p:sp>
        <p:nvSpPr>
          <p:cNvPr id="23" name="audit item 5"/>
          <p:cNvSpPr/>
          <p:nvPr/>
        </p:nvSpPr>
        <p:spPr>
          <a:xfrm>
            <a:off x="4297680" y="3794760"/>
            <a:ext cx="3474720" cy="1920240"/>
          </a:xfrm>
          <a:prstGeom prst="roundRect">
            <a:avLst>
              <a:gd name="adj" fmla="val 5714"/>
            </a:avLst>
          </a:prstGeom>
          <a:solidFill>
            <a:schemeClr val="bg2"/>
          </a:solidFill>
          <a:ln w="12700">
            <a:solidFill>
              <a:schemeClr val="bg2"/>
            </a:solidFill>
            <a:prstDash val="solid"/>
          </a:ln>
        </p:spPr>
      </p:sp>
      <p:sp>
        <p:nvSpPr>
          <p:cNvPr id="24" name="audit 5"/>
          <p:cNvSpPr/>
          <p:nvPr/>
        </p:nvSpPr>
        <p:spPr>
          <a:xfrm>
            <a:off x="4572000" y="4069080"/>
            <a:ext cx="457200" cy="457200"/>
          </a:xfrm>
          <a:prstGeom prst="ellipse">
            <a:avLst/>
          </a:prstGeom>
          <a:solidFill>
            <a:schemeClr val="accent2"/>
          </a:solidFill>
          <a:ln w="12700">
            <a:solidFill>
              <a:schemeClr val="accent2"/>
            </a:solidFill>
            <a:prstDash val="solid"/>
          </a:ln>
        </p:spPr>
      </p:sp>
      <p:sp>
        <p:nvSpPr>
          <p:cNvPr id="25" name="audit 5 label"/>
          <p:cNvSpPr txBox="1"/>
          <p:nvPr/>
        </p:nvSpPr>
        <p:spPr>
          <a:xfrm>
            <a:off x="4572000" y="4069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audit 5 heading"/>
          <p:cNvSpPr txBox="1"/>
          <p:nvPr/>
        </p:nvSpPr>
        <p:spPr>
          <a:xfrm>
            <a:off x="4572000" y="4663440"/>
            <a:ext cx="2926080" cy="411480"/>
          </a:xfrm>
          <a:prstGeom prst="rect">
            <a:avLst/>
          </a:prstGeom>
          <a:noFill/>
          <a:ln/>
        </p:spPr>
        <p:txBody>
          <a:bodyPr wrap="square" lIns="0" tIns="0" rIns="0" bIns="0" rtlCol="0" anchor="t"/>
          <a:lstStyle/>
          <a:p>
            <a:pPr indent="0" marL="0">
              <a:buNone/>
            </a:pPr>
            <a:r>
              <a:rPr lang="en-US" sz="1800" b="1" dirty="0">
                <a:solidFill>
                  <a:schemeClr val="tx1"/>
                </a:solidFill>
              </a:rPr>
              <a:t>Recent audit events</a:t>
            </a:r>
            <a:endParaRPr lang="en-US" sz="1800" dirty="0"/>
          </a:p>
        </p:txBody>
      </p:sp>
      <p:sp>
        <p:nvSpPr>
          <p:cNvPr id="27" name="audit 5 text"/>
          <p:cNvSpPr txBox="1"/>
          <p:nvPr/>
        </p:nvSpPr>
        <p:spPr>
          <a:xfrm>
            <a:off x="4572000" y="507492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Searchable log with filters and Export CSV</a:t>
            </a:r>
            <a:endParaRPr lang="en-US" sz="1400" dirty="0"/>
          </a:p>
        </p:txBody>
      </p:sp>
      <p:sp>
        <p:nvSpPr>
          <p:cNvPr id="28" name="audit item 6"/>
          <p:cNvSpPr/>
          <p:nvPr/>
        </p:nvSpPr>
        <p:spPr>
          <a:xfrm>
            <a:off x="8046720" y="3794760"/>
            <a:ext cx="3474720" cy="1920240"/>
          </a:xfrm>
          <a:prstGeom prst="roundRect">
            <a:avLst>
              <a:gd name="adj" fmla="val 5714"/>
            </a:avLst>
          </a:prstGeom>
          <a:solidFill>
            <a:schemeClr val="bg2"/>
          </a:solidFill>
          <a:ln w="12700">
            <a:solidFill>
              <a:schemeClr val="bg2"/>
            </a:solidFill>
            <a:prstDash val="solid"/>
          </a:ln>
        </p:spPr>
      </p:sp>
      <p:sp>
        <p:nvSpPr>
          <p:cNvPr id="29" name="audit 6"/>
          <p:cNvSpPr/>
          <p:nvPr/>
        </p:nvSpPr>
        <p:spPr>
          <a:xfrm>
            <a:off x="8321040" y="4069080"/>
            <a:ext cx="457200" cy="457200"/>
          </a:xfrm>
          <a:prstGeom prst="ellipse">
            <a:avLst/>
          </a:prstGeom>
          <a:solidFill>
            <a:schemeClr val="accent4"/>
          </a:solidFill>
          <a:ln w="12700">
            <a:solidFill>
              <a:schemeClr val="accent4"/>
            </a:solidFill>
            <a:prstDash val="solid"/>
          </a:ln>
        </p:spPr>
      </p:sp>
      <p:sp>
        <p:nvSpPr>
          <p:cNvPr id="30" name="audit 6 label"/>
          <p:cNvSpPr txBox="1"/>
          <p:nvPr/>
        </p:nvSpPr>
        <p:spPr>
          <a:xfrm>
            <a:off x="8321040" y="4069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audit 6 heading"/>
          <p:cNvSpPr txBox="1"/>
          <p:nvPr/>
        </p:nvSpPr>
        <p:spPr>
          <a:xfrm>
            <a:off x="8321040" y="4663440"/>
            <a:ext cx="2926080" cy="411480"/>
          </a:xfrm>
          <a:prstGeom prst="rect">
            <a:avLst/>
          </a:prstGeom>
          <a:noFill/>
          <a:ln/>
        </p:spPr>
        <p:txBody>
          <a:bodyPr wrap="square" lIns="0" tIns="0" rIns="0" bIns="0" rtlCol="0" anchor="t"/>
          <a:lstStyle/>
          <a:p>
            <a:pPr indent="0" marL="0">
              <a:buNone/>
            </a:pPr>
            <a:r>
              <a:rPr lang="en-US" sz="1800" b="1" dirty="0">
                <a:solidFill>
                  <a:schemeClr val="tx1"/>
                </a:solidFill>
              </a:rPr>
              <a:t>Admin only</a:t>
            </a:r>
            <a:endParaRPr lang="en-US" sz="1800" dirty="0"/>
          </a:p>
        </p:txBody>
      </p:sp>
      <p:sp>
        <p:nvSpPr>
          <p:cNvPr id="32" name="audit 6 text"/>
          <p:cNvSpPr txBox="1"/>
          <p:nvPr/>
        </p:nvSpPr>
        <p:spPr>
          <a:xfrm>
            <a:off x="8321040" y="5074920"/>
            <a:ext cx="2926080" cy="594360"/>
          </a:xfrm>
          <a:prstGeom prst="rect">
            <a:avLst/>
          </a:prstGeom>
          <a:noFill/>
          <a:ln/>
        </p:spPr>
        <p:txBody>
          <a:bodyPr wrap="square" lIns="0" tIns="0" rIns="0" bIns="0" rtlCol="0" anchor="t"/>
          <a:lstStyle/>
          <a:p>
            <a:pPr indent="0" marL="0">
              <a:buNone/>
            </a:pPr>
            <a:r>
              <a:rPr lang="en-US" sz="1400" dirty="0">
                <a:solidFill>
                  <a:schemeClr val="accent5"/>
                </a:solidFill>
              </a:rPr>
              <a:t>Details stay hidden until an admin signs in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Results: every attack blocked, no honest user blocked</a:t>
            </a:r>
            <a:endParaRPr lang="en-US" sz="3200" dirty="0"/>
          </a:p>
        </p:txBody>
      </p:sp>
      <p:sp>
        <p:nvSpPr>
          <p:cNvPr id="3" name="stat 1 number"/>
          <p:cNvSpPr txBox="1"/>
          <p:nvPr/>
        </p:nvSpPr>
        <p:spPr>
          <a:xfrm>
            <a:off x="548640" y="1463040"/>
            <a:ext cx="4754880" cy="7772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2,267 / 2,267</a:t>
            </a:r>
            <a:endParaRPr lang="en-US" sz="4400" dirty="0"/>
          </a:p>
        </p:txBody>
      </p:sp>
      <p:sp>
        <p:nvSpPr>
          <p:cNvPr id="4" name="stat 1 label"/>
          <p:cNvSpPr txBox="1"/>
          <p:nvPr/>
        </p:nvSpPr>
        <p:spPr>
          <a:xfrm>
            <a:off x="548640" y="2240280"/>
            <a:ext cx="4754880" cy="411480"/>
          </a:xfrm>
          <a:prstGeom prst="rect">
            <a:avLst/>
          </a:prstGeom>
          <a:noFill/>
          <a:ln/>
        </p:spPr>
        <p:txBody>
          <a:bodyPr wrap="square" lIns="0" tIns="0" rIns="0" bIns="0" rtlCol="0" anchor="t"/>
          <a:lstStyle/>
          <a:p>
            <a:pPr indent="0" marL="0">
              <a:buNone/>
            </a:pPr>
            <a:r>
              <a:rPr lang="en-US" sz="1600" dirty="0">
                <a:solidFill>
                  <a:schemeClr val="accent5"/>
                </a:solidFill>
              </a:rPr>
              <a:t>test attacks blocked</a:t>
            </a:r>
            <a:endParaRPr lang="en-US" sz="1600" dirty="0"/>
          </a:p>
        </p:txBody>
      </p:sp>
      <p:sp>
        <p:nvSpPr>
          <p:cNvPr id="5" name="stat 2 number"/>
          <p:cNvSpPr txBox="1"/>
          <p:nvPr/>
        </p:nvSpPr>
        <p:spPr>
          <a:xfrm>
            <a:off x="548640" y="2761488"/>
            <a:ext cx="4754880" cy="77724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0</a:t>
            </a:r>
            <a:endParaRPr lang="en-US" sz="4400" dirty="0"/>
          </a:p>
        </p:txBody>
      </p:sp>
      <p:sp>
        <p:nvSpPr>
          <p:cNvPr id="6" name="stat 2 label"/>
          <p:cNvSpPr txBox="1"/>
          <p:nvPr/>
        </p:nvSpPr>
        <p:spPr>
          <a:xfrm>
            <a:off x="548640" y="3538728"/>
            <a:ext cx="4754880" cy="411480"/>
          </a:xfrm>
          <a:prstGeom prst="rect">
            <a:avLst/>
          </a:prstGeom>
          <a:noFill/>
          <a:ln/>
        </p:spPr>
        <p:txBody>
          <a:bodyPr wrap="square" lIns="0" tIns="0" rIns="0" bIns="0" rtlCol="0" anchor="t"/>
          <a:lstStyle/>
          <a:p>
            <a:pPr indent="0" marL="0">
              <a:buNone/>
            </a:pPr>
            <a:r>
              <a:rPr lang="en-US" sz="1600" dirty="0">
                <a:solidFill>
                  <a:schemeClr val="accent5"/>
                </a:solidFill>
              </a:rPr>
              <a:t>legitimate requests wrongly blocked</a:t>
            </a:r>
            <a:endParaRPr lang="en-US" sz="1600" dirty="0"/>
          </a:p>
        </p:txBody>
      </p:sp>
      <p:sp>
        <p:nvSpPr>
          <p:cNvPr id="7" name="stat 3 number"/>
          <p:cNvSpPr txBox="1"/>
          <p:nvPr/>
        </p:nvSpPr>
        <p:spPr>
          <a:xfrm>
            <a:off x="548640" y="4059936"/>
            <a:ext cx="475488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317</a:t>
            </a:r>
            <a:endParaRPr lang="en-US" sz="4400" dirty="0"/>
          </a:p>
        </p:txBody>
      </p:sp>
      <p:sp>
        <p:nvSpPr>
          <p:cNvPr id="8" name="stat 3 label"/>
          <p:cNvSpPr txBox="1"/>
          <p:nvPr/>
        </p:nvSpPr>
        <p:spPr>
          <a:xfrm>
            <a:off x="548640" y="4837176"/>
            <a:ext cx="4754880" cy="411480"/>
          </a:xfrm>
          <a:prstGeom prst="rect">
            <a:avLst/>
          </a:prstGeom>
          <a:noFill/>
          <a:ln/>
        </p:spPr>
        <p:txBody>
          <a:bodyPr wrap="square" lIns="0" tIns="0" rIns="0" bIns="0" rtlCol="0" anchor="t"/>
          <a:lstStyle/>
          <a:p>
            <a:pPr indent="0" marL="0">
              <a:buNone/>
            </a:pPr>
            <a:r>
              <a:rPr lang="en-US" sz="1600" dirty="0">
                <a:solidFill>
                  <a:schemeClr val="accent5"/>
                </a:solidFill>
              </a:rPr>
              <a:t>automated tests passing</a:t>
            </a:r>
            <a:endParaRPr lang="en-US" sz="1600" dirty="0"/>
          </a:p>
        </p:txBody>
      </p:sp>
      <p:graphicFrame>
        <p:nvGraphicFramePr>
          <p:cNvPr id="9" name="latency chart" descr=""/>
          <p:cNvGraphicFramePr/>
          <p:nvPr/>
        </p:nvGraphicFramePr>
        <p:xfrm>
          <a:off x="5760720" y="1463040"/>
          <a:ext cx="5852160" cy="3840480"/>
        </p:xfrm>
        <a:graphic xmlns:a="http://schemas.openxmlformats.org/drawingml/2006/main">
          <a:graphicData uri="http://schemas.openxmlformats.org/drawingml/2006/chart">
            <c:chart xmlns:c="http://schemas.openxmlformats.org/drawingml/2006/chart" r:id="rId1"/>
          </a:graphicData>
        </a:graphic>
      </p:graphicFrame>
      <p:sp>
        <p:nvSpPr>
          <p:cNvPr id="10" name="compare"/>
          <p:cNvSpPr txBox="1"/>
          <p:nvPr/>
        </p:nvSpPr>
        <p:spPr>
          <a:xfrm>
            <a:off x="548640" y="5669280"/>
            <a:ext cx="11064240" cy="594360"/>
          </a:xfrm>
          <a:prstGeom prst="rect">
            <a:avLst/>
          </a:prstGeom>
          <a:noFill/>
          <a:ln/>
        </p:spPr>
        <p:txBody>
          <a:bodyPr wrap="square" lIns="0" tIns="0" rIns="0" bIns="0" rtlCol="0" anchor="t"/>
          <a:lstStyle/>
          <a:p>
            <a:pPr indent="0" marL="0">
              <a:buNone/>
            </a:pPr>
            <a:r>
              <a:rPr lang="en-US" sz="1400" dirty="0">
                <a:solidFill>
                  <a:schemeClr val="tx2"/>
                </a:solidFill>
              </a:rPr>
              <a:t>Against graphql-shield (a popular Node.js tool) on the same attacks: both leaked 0 of 13, but graphql-shield wrongly hid an owner's own data in 1 of 5 normal requests.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Live demo: four steps, about four minutes</a:t>
            </a:r>
            <a:endParaRPr lang="en-US" sz="3200" dirty="0"/>
          </a:p>
        </p:txBody>
      </p:sp>
      <p:sp>
        <p:nvSpPr>
          <p:cNvPr id="3" name="demo 1 card"/>
          <p:cNvSpPr/>
          <p:nvPr/>
        </p:nvSpPr>
        <p:spPr>
          <a:xfrm>
            <a:off x="548640" y="1508760"/>
            <a:ext cx="11064240" cy="868680"/>
          </a:xfrm>
          <a:prstGeom prst="roundRect">
            <a:avLst>
              <a:gd name="adj" fmla="val 12632"/>
            </a:avLst>
          </a:prstGeom>
          <a:solidFill>
            <a:schemeClr val="bg2"/>
          </a:solidFill>
          <a:ln w="12700">
            <a:solidFill>
              <a:schemeClr val="bg2"/>
            </a:solidFill>
            <a:prstDash val="solid"/>
          </a:ln>
        </p:spPr>
      </p:sp>
      <p:sp>
        <p:nvSpPr>
          <p:cNvPr id="4" name="demo 1"/>
          <p:cNvSpPr/>
          <p:nvPr/>
        </p:nvSpPr>
        <p:spPr>
          <a:xfrm>
            <a:off x="777240" y="1691640"/>
            <a:ext cx="502920" cy="502920"/>
          </a:xfrm>
          <a:prstGeom prst="ellipse">
            <a:avLst/>
          </a:prstGeom>
          <a:solidFill>
            <a:schemeClr val="tx2"/>
          </a:solidFill>
          <a:ln w="12700">
            <a:solidFill>
              <a:schemeClr val="tx2"/>
            </a:solidFill>
            <a:prstDash val="solid"/>
          </a:ln>
        </p:spPr>
      </p:sp>
      <p:sp>
        <p:nvSpPr>
          <p:cNvPr id="5" name="demo 1 label"/>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demo 1 heading"/>
          <p:cNvSpPr txBox="1"/>
          <p:nvPr/>
        </p:nvSpPr>
        <p:spPr>
          <a:xfrm>
            <a:off x="1508760" y="1600200"/>
            <a:ext cx="5852160" cy="384048"/>
          </a:xfrm>
          <a:prstGeom prst="rect">
            <a:avLst/>
          </a:prstGeom>
          <a:noFill/>
          <a:ln/>
        </p:spPr>
        <p:txBody>
          <a:bodyPr wrap="square" lIns="0" tIns="0" rIns="0" bIns="0" rtlCol="0" anchor="t"/>
          <a:lstStyle/>
          <a:p>
            <a:pPr indent="0" marL="0">
              <a:buNone/>
            </a:pPr>
            <a:r>
              <a:rPr lang="en-US" sz="1800" b="1" dirty="0">
                <a:solidFill>
                  <a:schemeClr val="tx1"/>
                </a:solidFill>
              </a:rPr>
              <a:t>Attack without protection</a:t>
            </a:r>
            <a:endParaRPr lang="en-US" sz="1800" dirty="0"/>
          </a:p>
        </p:txBody>
      </p:sp>
      <p:sp>
        <p:nvSpPr>
          <p:cNvPr id="7" name="demo 1 text"/>
          <p:cNvSpPr txBox="1"/>
          <p:nvPr/>
        </p:nvSpPr>
        <p:spPr>
          <a:xfrm>
            <a:off x="1508760" y="1965960"/>
            <a:ext cx="6949440" cy="347472"/>
          </a:xfrm>
          <a:prstGeom prst="rect">
            <a:avLst/>
          </a:prstGeom>
          <a:noFill/>
          <a:ln/>
        </p:spPr>
        <p:txBody>
          <a:bodyPr wrap="square" lIns="0" tIns="0" rIns="0" bIns="0" rtlCol="0" anchor="t"/>
          <a:lstStyle/>
          <a:p>
            <a:pPr indent="0" marL="0">
              <a:buNone/>
            </a:pPr>
            <a:r>
              <a:rPr lang="en-US" sz="1400" dirty="0">
                <a:solidFill>
                  <a:schemeClr val="accent5"/>
                </a:solidFill>
              </a:rPr>
              <a:t>Insecure endpoint · folder 201 children</a:t>
            </a:r>
            <a:endParaRPr lang="en-US" sz="1400" dirty="0"/>
          </a:p>
        </p:txBody>
      </p:sp>
      <p:sp>
        <p:nvSpPr>
          <p:cNvPr id="8" name="demo 1 result"/>
          <p:cNvSpPr/>
          <p:nvPr/>
        </p:nvSpPr>
        <p:spPr>
          <a:xfrm>
            <a:off x="9326880" y="1783080"/>
            <a:ext cx="2011680" cy="329184"/>
          </a:xfrm>
          <a:prstGeom prst="roundRect">
            <a:avLst>
              <a:gd name="adj" fmla="val 50000"/>
            </a:avLst>
          </a:prstGeom>
          <a:solidFill>
            <a:schemeClr val="accent3"/>
          </a:solidFill>
          <a:ln w="12700">
            <a:solidFill>
              <a:schemeClr val="accent3"/>
            </a:solidFill>
            <a:prstDash val="solid"/>
          </a:ln>
        </p:spPr>
      </p:sp>
      <p:sp>
        <p:nvSpPr>
          <p:cNvPr id="9" name="demo 1 result text"/>
          <p:cNvSpPr txBox="1"/>
          <p:nvPr/>
        </p:nvSpPr>
        <p:spPr>
          <a:xfrm>
            <a:off x="9326880" y="1783080"/>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204 leaks</a:t>
            </a:r>
            <a:endParaRPr lang="en-US" sz="1200" dirty="0"/>
          </a:p>
        </p:txBody>
      </p:sp>
      <p:sp>
        <p:nvSpPr>
          <p:cNvPr id="10" name="demo 2 card"/>
          <p:cNvSpPr/>
          <p:nvPr/>
        </p:nvSpPr>
        <p:spPr>
          <a:xfrm>
            <a:off x="548640" y="2532888"/>
            <a:ext cx="11064240" cy="868680"/>
          </a:xfrm>
          <a:prstGeom prst="roundRect">
            <a:avLst>
              <a:gd name="adj" fmla="val 12632"/>
            </a:avLst>
          </a:prstGeom>
          <a:solidFill>
            <a:schemeClr val="bg2"/>
          </a:solidFill>
          <a:ln w="12700">
            <a:solidFill>
              <a:schemeClr val="bg2"/>
            </a:solidFill>
            <a:prstDash val="solid"/>
          </a:ln>
        </p:spPr>
      </p:sp>
      <p:sp>
        <p:nvSpPr>
          <p:cNvPr id="11" name="demo 2"/>
          <p:cNvSpPr/>
          <p:nvPr/>
        </p:nvSpPr>
        <p:spPr>
          <a:xfrm>
            <a:off x="777240" y="2715768"/>
            <a:ext cx="502920" cy="502920"/>
          </a:xfrm>
          <a:prstGeom prst="ellipse">
            <a:avLst/>
          </a:prstGeom>
          <a:solidFill>
            <a:schemeClr val="tx2"/>
          </a:solidFill>
          <a:ln w="12700">
            <a:solidFill>
              <a:schemeClr val="tx2"/>
            </a:solidFill>
            <a:prstDash val="solid"/>
          </a:ln>
        </p:spPr>
      </p:sp>
      <p:sp>
        <p:nvSpPr>
          <p:cNvPr id="12" name="demo 2 label"/>
          <p:cNvSpPr txBox="1"/>
          <p:nvPr/>
        </p:nvSpPr>
        <p:spPr>
          <a:xfrm>
            <a:off x="777240" y="2715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demo 2 heading"/>
          <p:cNvSpPr txBox="1"/>
          <p:nvPr/>
        </p:nvSpPr>
        <p:spPr>
          <a:xfrm>
            <a:off x="1508760" y="2624328"/>
            <a:ext cx="5852160" cy="384048"/>
          </a:xfrm>
          <a:prstGeom prst="rect">
            <a:avLst/>
          </a:prstGeom>
          <a:noFill/>
          <a:ln/>
        </p:spPr>
        <p:txBody>
          <a:bodyPr wrap="square" lIns="0" tIns="0" rIns="0" bIns="0" rtlCol="0" anchor="t"/>
          <a:lstStyle/>
          <a:p>
            <a:pPr indent="0" marL="0">
              <a:buNone/>
            </a:pPr>
            <a:r>
              <a:rPr lang="en-US" sz="1800" b="1" dirty="0">
                <a:solidFill>
                  <a:schemeClr val="tx1"/>
                </a:solidFill>
              </a:rPr>
              <a:t>Same attack, protected</a:t>
            </a:r>
            <a:endParaRPr lang="en-US" sz="1800" dirty="0"/>
          </a:p>
        </p:txBody>
      </p:sp>
      <p:sp>
        <p:nvSpPr>
          <p:cNvPr id="14" name="demo 2 text"/>
          <p:cNvSpPr txBox="1"/>
          <p:nvPr/>
        </p:nvSpPr>
        <p:spPr>
          <a:xfrm>
            <a:off x="1508760" y="2990088"/>
            <a:ext cx="6949440" cy="347472"/>
          </a:xfrm>
          <a:prstGeom prst="rect">
            <a:avLst/>
          </a:prstGeom>
          <a:noFill/>
          <a:ln/>
        </p:spPr>
        <p:txBody>
          <a:bodyPr wrap="square" lIns="0" tIns="0" rIns="0" bIns="0" rtlCol="0" anchor="t"/>
          <a:lstStyle/>
          <a:p>
            <a:pPr indent="0" marL="0">
              <a:buNone/>
            </a:pPr>
            <a:r>
              <a:rPr lang="en-US" sz="1400" dirty="0">
                <a:solidFill>
                  <a:schemeClr val="accent5"/>
                </a:solidFill>
              </a:rPr>
              <a:t>Protected endpoint · folder 201 children</a:t>
            </a:r>
            <a:endParaRPr lang="en-US" sz="1400" dirty="0"/>
          </a:p>
        </p:txBody>
      </p:sp>
      <p:sp>
        <p:nvSpPr>
          <p:cNvPr id="15" name="demo 2 result"/>
          <p:cNvSpPr/>
          <p:nvPr/>
        </p:nvSpPr>
        <p:spPr>
          <a:xfrm>
            <a:off x="9326880" y="2807208"/>
            <a:ext cx="2011680" cy="329184"/>
          </a:xfrm>
          <a:prstGeom prst="roundRect">
            <a:avLst>
              <a:gd name="adj" fmla="val 50000"/>
            </a:avLst>
          </a:prstGeom>
          <a:solidFill>
            <a:schemeClr val="accent2"/>
          </a:solidFill>
          <a:ln w="12700">
            <a:solidFill>
              <a:schemeClr val="accent2"/>
            </a:solidFill>
            <a:prstDash val="solid"/>
          </a:ln>
        </p:spPr>
      </p:sp>
      <p:sp>
        <p:nvSpPr>
          <p:cNvPr id="16" name="demo 2 result text"/>
          <p:cNvSpPr txBox="1"/>
          <p:nvPr/>
        </p:nvSpPr>
        <p:spPr>
          <a:xfrm>
            <a:off x="9326880" y="2807208"/>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204 removed</a:t>
            </a:r>
            <a:endParaRPr lang="en-US" sz="1200" dirty="0"/>
          </a:p>
        </p:txBody>
      </p:sp>
      <p:sp>
        <p:nvSpPr>
          <p:cNvPr id="17" name="demo 3 card"/>
          <p:cNvSpPr/>
          <p:nvPr/>
        </p:nvSpPr>
        <p:spPr>
          <a:xfrm>
            <a:off x="548640" y="3557016"/>
            <a:ext cx="11064240" cy="868680"/>
          </a:xfrm>
          <a:prstGeom prst="roundRect">
            <a:avLst>
              <a:gd name="adj" fmla="val 12632"/>
            </a:avLst>
          </a:prstGeom>
          <a:solidFill>
            <a:schemeClr val="bg2"/>
          </a:solidFill>
          <a:ln w="12700">
            <a:solidFill>
              <a:schemeClr val="bg2"/>
            </a:solidFill>
            <a:prstDash val="solid"/>
          </a:ln>
        </p:spPr>
      </p:sp>
      <p:sp>
        <p:nvSpPr>
          <p:cNvPr id="18" name="demo 3"/>
          <p:cNvSpPr/>
          <p:nvPr/>
        </p:nvSpPr>
        <p:spPr>
          <a:xfrm>
            <a:off x="777240" y="3739896"/>
            <a:ext cx="502920" cy="502920"/>
          </a:xfrm>
          <a:prstGeom prst="ellipse">
            <a:avLst/>
          </a:prstGeom>
          <a:solidFill>
            <a:schemeClr val="tx2"/>
          </a:solidFill>
          <a:ln w="12700">
            <a:solidFill>
              <a:schemeClr val="tx2"/>
            </a:solidFill>
            <a:prstDash val="solid"/>
          </a:ln>
        </p:spPr>
      </p:sp>
      <p:sp>
        <p:nvSpPr>
          <p:cNvPr id="19" name="demo 3 label"/>
          <p:cNvSpPr txBox="1"/>
          <p:nvPr/>
        </p:nvSpPr>
        <p:spPr>
          <a:xfrm>
            <a:off x="777240" y="373989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demo 3 heading"/>
          <p:cNvSpPr txBox="1"/>
          <p:nvPr/>
        </p:nvSpPr>
        <p:spPr>
          <a:xfrm>
            <a:off x="1508760" y="3648456"/>
            <a:ext cx="5852160" cy="384048"/>
          </a:xfrm>
          <a:prstGeom prst="rect">
            <a:avLst/>
          </a:prstGeom>
          <a:noFill/>
          <a:ln/>
        </p:spPr>
        <p:txBody>
          <a:bodyPr wrap="square" lIns="0" tIns="0" rIns="0" bIns="0" rtlCol="0" anchor="t"/>
          <a:lstStyle/>
          <a:p>
            <a:pPr indent="0" marL="0">
              <a:buNone/>
            </a:pPr>
            <a:r>
              <a:rPr lang="en-US" sz="1800" b="1" dirty="0">
                <a:solidFill>
                  <a:schemeClr val="tx1"/>
                </a:solidFill>
              </a:rPr>
              <a:t>Direct attack on 102</a:t>
            </a:r>
            <a:endParaRPr lang="en-US" sz="1800" dirty="0"/>
          </a:p>
        </p:txBody>
      </p:sp>
      <p:sp>
        <p:nvSpPr>
          <p:cNvPr id="21" name="demo 3 text"/>
          <p:cNvSpPr txBox="1"/>
          <p:nvPr/>
        </p:nvSpPr>
        <p:spPr>
          <a:xfrm>
            <a:off x="1508760" y="4014216"/>
            <a:ext cx="6949440" cy="347472"/>
          </a:xfrm>
          <a:prstGeom prst="rect">
            <a:avLst/>
          </a:prstGeom>
          <a:noFill/>
          <a:ln/>
        </p:spPr>
        <p:txBody>
          <a:bodyPr wrap="square" lIns="0" tIns="0" rIns="0" bIns="0" rtlCol="0" anchor="t"/>
          <a:lstStyle/>
          <a:p>
            <a:pPr indent="0" marL="0">
              <a:buNone/>
            </a:pPr>
            <a:r>
              <a:rPr lang="en-US" sz="1400" dirty="0">
                <a:solidFill>
                  <a:schemeClr val="accent5"/>
                </a:solidFill>
              </a:rPr>
              <a:t>Protected · direct lookup · 5-step flow explains</a:t>
            </a:r>
            <a:endParaRPr lang="en-US" sz="1400" dirty="0"/>
          </a:p>
        </p:txBody>
      </p:sp>
      <p:sp>
        <p:nvSpPr>
          <p:cNvPr id="22" name="demo 3 result"/>
          <p:cNvSpPr/>
          <p:nvPr/>
        </p:nvSpPr>
        <p:spPr>
          <a:xfrm>
            <a:off x="9326880" y="3831336"/>
            <a:ext cx="2011680" cy="329184"/>
          </a:xfrm>
          <a:prstGeom prst="roundRect">
            <a:avLst>
              <a:gd name="adj" fmla="val 50000"/>
            </a:avLst>
          </a:prstGeom>
          <a:solidFill>
            <a:schemeClr val="accent2"/>
          </a:solidFill>
          <a:ln w="12700">
            <a:solidFill>
              <a:schemeClr val="accent2"/>
            </a:solidFill>
            <a:prstDash val="solid"/>
          </a:ln>
        </p:spPr>
      </p:sp>
      <p:sp>
        <p:nvSpPr>
          <p:cNvPr id="23" name="demo 3 result text"/>
          <p:cNvSpPr txBox="1"/>
          <p:nvPr/>
        </p:nvSpPr>
        <p:spPr>
          <a:xfrm>
            <a:off x="9326880" y="3831336"/>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403 blocked</a:t>
            </a:r>
            <a:endParaRPr lang="en-US" sz="1200" dirty="0"/>
          </a:p>
        </p:txBody>
      </p:sp>
      <p:sp>
        <p:nvSpPr>
          <p:cNvPr id="24" name="demo 4 card"/>
          <p:cNvSpPr/>
          <p:nvPr/>
        </p:nvSpPr>
        <p:spPr>
          <a:xfrm>
            <a:off x="548640" y="4581144"/>
            <a:ext cx="11064240" cy="868680"/>
          </a:xfrm>
          <a:prstGeom prst="roundRect">
            <a:avLst>
              <a:gd name="adj" fmla="val 12632"/>
            </a:avLst>
          </a:prstGeom>
          <a:solidFill>
            <a:schemeClr val="bg2"/>
          </a:solidFill>
          <a:ln w="12700">
            <a:solidFill>
              <a:schemeClr val="bg2"/>
            </a:solidFill>
            <a:prstDash val="solid"/>
          </a:ln>
        </p:spPr>
      </p:sp>
      <p:sp>
        <p:nvSpPr>
          <p:cNvPr id="25" name="demo 4"/>
          <p:cNvSpPr/>
          <p:nvPr/>
        </p:nvSpPr>
        <p:spPr>
          <a:xfrm>
            <a:off x="777240" y="4764024"/>
            <a:ext cx="502920" cy="502920"/>
          </a:xfrm>
          <a:prstGeom prst="ellipse">
            <a:avLst/>
          </a:prstGeom>
          <a:solidFill>
            <a:schemeClr val="tx2"/>
          </a:solidFill>
          <a:ln w="12700">
            <a:solidFill>
              <a:schemeClr val="tx2"/>
            </a:solidFill>
            <a:prstDash val="solid"/>
          </a:ln>
        </p:spPr>
      </p:sp>
      <p:sp>
        <p:nvSpPr>
          <p:cNvPr id="26" name="demo 4 label"/>
          <p:cNvSpPr txBox="1"/>
          <p:nvPr/>
        </p:nvSpPr>
        <p:spPr>
          <a:xfrm>
            <a:off x="777240" y="476402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demo 4 heading"/>
          <p:cNvSpPr txBox="1"/>
          <p:nvPr/>
        </p:nvSpPr>
        <p:spPr>
          <a:xfrm>
            <a:off x="1508760" y="4672584"/>
            <a:ext cx="5852160" cy="384048"/>
          </a:xfrm>
          <a:prstGeom prst="rect">
            <a:avLst/>
          </a:prstGeom>
          <a:noFill/>
          <a:ln/>
        </p:spPr>
        <p:txBody>
          <a:bodyPr wrap="square" lIns="0" tIns="0" rIns="0" bIns="0" rtlCol="0" anchor="t"/>
          <a:lstStyle/>
          <a:p>
            <a:pPr indent="0" marL="0">
              <a:buNone/>
            </a:pPr>
            <a:r>
              <a:rPr lang="en-US" sz="1800" b="1" dirty="0">
                <a:solidFill>
                  <a:schemeClr val="tx1"/>
                </a:solidFill>
              </a:rPr>
              <a:t>Blind-spot predictor</a:t>
            </a:r>
            <a:endParaRPr lang="en-US" sz="1800" dirty="0"/>
          </a:p>
        </p:txBody>
      </p:sp>
      <p:sp>
        <p:nvSpPr>
          <p:cNvPr id="28" name="demo 4 text"/>
          <p:cNvSpPr txBox="1"/>
          <p:nvPr/>
        </p:nvSpPr>
        <p:spPr>
          <a:xfrm>
            <a:off x="1508760" y="5038344"/>
            <a:ext cx="6949440" cy="347472"/>
          </a:xfrm>
          <a:prstGeom prst="rect">
            <a:avLst/>
          </a:prstGeom>
          <a:noFill/>
          <a:ln/>
        </p:spPr>
        <p:txBody>
          <a:bodyPr wrap="square" lIns="0" tIns="0" rIns="0" bIns="0" rtlCol="0" anchor="t"/>
          <a:lstStyle/>
          <a:p>
            <a:pPr indent="0" marL="0">
              <a:buNone/>
            </a:pPr>
            <a:r>
              <a:rPr lang="en-US" sz="1400" dirty="0">
                <a:solidFill>
                  <a:schemeClr val="accent5"/>
                </a:solidFill>
              </a:rPr>
              <a:t>Research tab · discovery table · Predict blind spot</a:t>
            </a:r>
            <a:endParaRPr lang="en-US" sz="1400" dirty="0"/>
          </a:p>
        </p:txBody>
      </p:sp>
      <p:sp>
        <p:nvSpPr>
          <p:cNvPr id="29" name="demo 4 result"/>
          <p:cNvSpPr/>
          <p:nvPr/>
        </p:nvSpPr>
        <p:spPr>
          <a:xfrm>
            <a:off x="9326880" y="4855464"/>
            <a:ext cx="2011680" cy="329184"/>
          </a:xfrm>
          <a:prstGeom prst="roundRect">
            <a:avLst>
              <a:gd name="adj" fmla="val 50000"/>
            </a:avLst>
          </a:prstGeom>
          <a:solidFill>
            <a:schemeClr val="accent1"/>
          </a:solidFill>
          <a:ln w="12700">
            <a:solidFill>
              <a:schemeClr val="accent1"/>
            </a:solidFill>
            <a:prstDash val="solid"/>
          </a:ln>
        </p:spPr>
      </p:sp>
      <p:sp>
        <p:nvSpPr>
          <p:cNvPr id="30" name="demo 4 result text"/>
          <p:cNvSpPr txBox="1"/>
          <p:nvPr/>
        </p:nvSpPr>
        <p:spPr>
          <a:xfrm>
            <a:off x="9326880" y="4855464"/>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p = 99.8%</a:t>
            </a:r>
            <a:endParaRPr lang="en-US" sz="1200" dirty="0"/>
          </a:p>
        </p:txBody>
      </p:sp>
      <p:sp>
        <p:nvSpPr>
          <p:cNvPr id="31" name="accounts"/>
          <p:cNvSpPr txBox="1"/>
          <p:nvPr/>
        </p:nvSpPr>
        <p:spPr>
          <a:xfrm>
            <a:off x="548640" y="5669280"/>
            <a:ext cx="11064240" cy="502920"/>
          </a:xfrm>
          <a:prstGeom prst="rect">
            <a:avLst/>
          </a:prstGeom>
          <a:noFill/>
          <a:ln/>
        </p:spPr>
        <p:txBody>
          <a:bodyPr wrap="square" lIns="0" tIns="0" rIns="0" bIns="0" rtlCol="0" anchor="t"/>
          <a:lstStyle/>
          <a:p>
            <a:pPr indent="0" marL="0">
              <a:buNone/>
            </a:pPr>
            <a:r>
              <a:rPr lang="en-US" sz="1400" dirty="0">
                <a:solidFill>
                  <a:schemeClr val="tx2"/>
                </a:solidFill>
              </a:rPr>
              <a:t>Accounts: balanilavan / balanilavan123 (test console) · chinmayanand / chinmayanand123 (admin). Retype the password before each test.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Limitations and next steps</a:t>
            </a:r>
            <a:endParaRPr lang="en-US" sz="3200" dirty="0"/>
          </a:p>
        </p:txBody>
      </p:sp>
      <p:sp>
        <p:nvSpPr>
          <p:cNvPr id="3" name="limits card"/>
          <p:cNvSpPr/>
          <p:nvPr/>
        </p:nvSpPr>
        <p:spPr>
          <a:xfrm>
            <a:off x="548640" y="1554480"/>
            <a:ext cx="5440680" cy="3566160"/>
          </a:xfrm>
          <a:prstGeom prst="roundRect">
            <a:avLst>
              <a:gd name="adj" fmla="val 3077"/>
            </a:avLst>
          </a:prstGeom>
          <a:solidFill>
            <a:schemeClr val="bg2"/>
          </a:solidFill>
          <a:ln w="12700">
            <a:solidFill>
              <a:schemeClr val="bg2"/>
            </a:solidFill>
            <a:prstDash val="solid"/>
          </a:ln>
        </p:spPr>
      </p:sp>
      <p:sp>
        <p:nvSpPr>
          <p:cNvPr id="4" name="limits heading"/>
          <p:cNvSpPr txBox="1"/>
          <p:nvPr/>
        </p:nvSpPr>
        <p:spPr>
          <a:xfrm>
            <a:off x="868680" y="1783080"/>
            <a:ext cx="4846320" cy="457200"/>
          </a:xfrm>
          <a:prstGeom prst="rect">
            <a:avLst/>
          </a:prstGeom>
          <a:noFill/>
          <a:ln/>
        </p:spPr>
        <p:txBody>
          <a:bodyPr wrap="square" lIns="0" tIns="0" rIns="0" bIns="0" rtlCol="0" anchor="t"/>
          <a:lstStyle/>
          <a:p>
            <a:pPr indent="0" marL="0">
              <a:buNone/>
            </a:pPr>
            <a:r>
              <a:rPr lang="en-US" sz="2000" b="1" dirty="0">
                <a:solidFill>
                  <a:schemeClr val="accent3"/>
                </a:solidFill>
              </a:rPr>
              <a:t>What we say honestly</a:t>
            </a:r>
            <a:endParaRPr lang="en-US" sz="2000" dirty="0"/>
          </a:p>
        </p:txBody>
      </p:sp>
      <p:sp>
        <p:nvSpPr>
          <p:cNvPr id="5" name="limits list"/>
          <p:cNvSpPr txBox="1"/>
          <p:nvPr/>
        </p:nvSpPr>
        <p:spPr>
          <a:xfrm>
            <a:off x="868680" y="2377440"/>
            <a:ext cx="484632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Both test apps and the attacks were built by us</a:t>
            </a:r>
            <a:endParaRPr lang="en-US" sz="1600" dirty="0"/>
          </a:p>
          <a:p>
            <a:pPr marL="342900" indent="-342900">
              <a:spcAft>
                <a:spcPts val="1000"/>
              </a:spcAft>
              <a:buSzPct val="100000"/>
              <a:buChar char="•"/>
            </a:pPr>
            <a:r>
              <a:rPr lang="en-US" sz="1600" dirty="0">
                <a:solidFill>
                  <a:schemeClr val="tx1"/>
                </a:solidFill>
              </a:rPr>
              <a:t>Rules are owner-or-admin only; no sharing or teams yet</a:t>
            </a:r>
            <a:endParaRPr lang="en-US" sz="1600" dirty="0"/>
          </a:p>
          <a:p>
            <a:pPr marL="342900" indent="-342900">
              <a:spcAft>
                <a:spcPts val="1000"/>
              </a:spcAft>
              <a:buSzPct val="100000"/>
              <a:buChar char="•"/>
            </a:pPr>
            <a:r>
              <a:rPr lang="en-US" sz="1600" dirty="0">
                <a:solidFill>
                  <a:schemeClr val="tx1"/>
                </a:solidFill>
              </a:rPr>
              <a:t>Speed was measured on a laptop, not a server</a:t>
            </a:r>
            <a:endParaRPr lang="en-US" sz="1600" dirty="0"/>
          </a:p>
          <a:p>
            <a:pPr marL="342900" indent="-342900">
              <a:spcAft>
                <a:spcPts val="1000"/>
              </a:spcAft>
              <a:buSzPct val="100000"/>
              <a:buChar char="•"/>
            </a:pPr>
            <a:r>
              <a:rPr lang="en-US" sz="1600" dirty="0">
                <a:solidFill>
                  <a:schemeClr val="tx1"/>
                </a:solidFill>
              </a:rPr>
              <a:t>After the bug fix, the model is no better than a simple rule</a:t>
            </a:r>
            <a:endParaRPr lang="en-US" sz="1600" dirty="0"/>
          </a:p>
        </p:txBody>
      </p:sp>
      <p:sp>
        <p:nvSpPr>
          <p:cNvPr id="6" name="next card"/>
          <p:cNvSpPr/>
          <p:nvPr/>
        </p:nvSpPr>
        <p:spPr>
          <a:xfrm>
            <a:off x="6172200" y="1554480"/>
            <a:ext cx="5440680" cy="3566160"/>
          </a:xfrm>
          <a:prstGeom prst="roundRect">
            <a:avLst>
              <a:gd name="adj" fmla="val 3077"/>
            </a:avLst>
          </a:prstGeom>
          <a:solidFill>
            <a:schemeClr val="bg2"/>
          </a:solidFill>
          <a:ln w="12700">
            <a:solidFill>
              <a:schemeClr val="bg2"/>
            </a:solidFill>
            <a:prstDash val="solid"/>
          </a:ln>
        </p:spPr>
      </p:sp>
      <p:sp>
        <p:nvSpPr>
          <p:cNvPr id="7" name="next heading"/>
          <p:cNvSpPr txBox="1"/>
          <p:nvPr/>
        </p:nvSpPr>
        <p:spPr>
          <a:xfrm>
            <a:off x="6492240" y="1783080"/>
            <a:ext cx="4846320" cy="457200"/>
          </a:xfrm>
          <a:prstGeom prst="rect">
            <a:avLst/>
          </a:prstGeom>
          <a:noFill/>
          <a:ln/>
        </p:spPr>
        <p:txBody>
          <a:bodyPr wrap="square" lIns="0" tIns="0" rIns="0" bIns="0" rtlCol="0" anchor="t"/>
          <a:lstStyle/>
          <a:p>
            <a:pPr indent="0" marL="0">
              <a:buNone/>
            </a:pPr>
            <a:r>
              <a:rPr lang="en-US" sz="2000" b="1" dirty="0">
                <a:solidFill>
                  <a:schemeClr val="accent2"/>
                </a:solidFill>
              </a:rPr>
              <a:t>What comes next</a:t>
            </a:r>
            <a:endParaRPr lang="en-US" sz="2000" dirty="0"/>
          </a:p>
        </p:txBody>
      </p:sp>
      <p:sp>
        <p:nvSpPr>
          <p:cNvPr id="8" name="next list"/>
          <p:cNvSpPr txBox="1"/>
          <p:nvPr/>
        </p:nvSpPr>
        <p:spPr>
          <a:xfrm>
            <a:off x="6492240" y="2377440"/>
            <a:ext cx="484632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Test on a real open-source GraphQL app (e.g. Saleor)</a:t>
            </a:r>
            <a:endParaRPr lang="en-US" sz="1600" dirty="0"/>
          </a:p>
          <a:p>
            <a:pPr marL="342900" indent="-342900">
              <a:spcAft>
                <a:spcPts val="1000"/>
              </a:spcAft>
              <a:buSzPct val="100000"/>
              <a:buChar char="•"/>
            </a:pPr>
            <a:r>
              <a:rPr lang="en-US" sz="1600" dirty="0">
                <a:solidFill>
                  <a:schemeClr val="tx1"/>
                </a:solidFill>
              </a:rPr>
              <a:t>Use attacks written by people outside the project</a:t>
            </a:r>
            <a:endParaRPr lang="en-US" sz="1600" dirty="0"/>
          </a:p>
          <a:p>
            <a:pPr marL="342900" indent="-342900">
              <a:spcAft>
                <a:spcPts val="1000"/>
              </a:spcAft>
              <a:buSzPct val="100000"/>
              <a:buChar char="•"/>
            </a:pPr>
            <a:r>
              <a:rPr lang="en-US" sz="1600" dirty="0">
                <a:solidFill>
                  <a:schemeClr val="tx1"/>
                </a:solidFill>
              </a:rPr>
              <a:t>Support sharing, teams and roles</a:t>
            </a:r>
            <a:endParaRPr lang="en-US" sz="1600" dirty="0"/>
          </a:p>
          <a:p>
            <a:pPr marL="342900" indent="-342900">
              <a:spcAft>
                <a:spcPts val="1000"/>
              </a:spcAft>
              <a:buSzPct val="100000"/>
              <a:buChar char="•"/>
            </a:pPr>
            <a:r>
              <a:rPr lang="en-US" sz="1600" dirty="0">
                <a:solidFill>
                  <a:schemeClr val="tx1"/>
                </a:solidFill>
              </a:rPr>
              <a:t>Write up the research paper (draft ready)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035040" cy="1371600"/>
          </a:xfrm>
          <a:prstGeom prst="rect">
            <a:avLst/>
          </a:prstGeom>
          <a:noFill/>
          <a:ln/>
        </p:spPr>
        <p:txBody>
          <a:bodyPr wrap="square" lIns="0" tIns="0" rIns="0" bIns="0" rtlCol="0" anchor="b"/>
          <a:lstStyle/>
          <a:p>
            <a:pPr algn="l"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731520" y="3429000"/>
            <a:ext cx="6035040" cy="1280160"/>
          </a:xfrm>
          <a:prstGeom prst="rect">
            <a:avLst/>
          </a:prstGeom>
          <a:noFill/>
          <a:ln/>
        </p:spPr>
        <p:txBody>
          <a:bodyPr wrap="square" lIns="0" tIns="0" rIns="0" bIns="0" rtlCol="0" anchor="t"/>
          <a:lstStyle/>
          <a:p>
            <a:pPr algn="l" indent="0" marL="0">
              <a:buNone/>
            </a:pPr>
            <a:r>
              <a:rPr lang="en-US" sz="2200" dirty="0">
                <a:solidFill>
                  <a:schemeClr val="accent6"/>
                </a:solidFill>
              </a:rPr>
              <a:t>Questions?</a:t>
            </a:r>
            <a:endParaRPr lang="en-US" sz="2200" dirty="0"/>
          </a:p>
        </p:txBody>
      </p:sp>
      <p:sp>
        <p:nvSpPr>
          <p:cNvPr id="4" name="summary card"/>
          <p:cNvSpPr/>
          <p:nvPr/>
        </p:nvSpPr>
        <p:spPr>
          <a:xfrm>
            <a:off x="7406640" y="1737360"/>
            <a:ext cx="4023360" cy="3474720"/>
          </a:xfrm>
          <a:prstGeom prst="roundRect">
            <a:avLst>
              <a:gd name="adj" fmla="val 3158"/>
            </a:avLst>
          </a:prstGeom>
          <a:solidFill>
            <a:schemeClr val="tx2"/>
          </a:solidFill>
          <a:ln w="12700">
            <a:solidFill>
              <a:schemeClr val="tx2"/>
            </a:solidFill>
            <a:prstDash val="solid"/>
          </a:ln>
        </p:spPr>
      </p:sp>
      <p:sp>
        <p:nvSpPr>
          <p:cNvPr id="5" name="summary heading"/>
          <p:cNvSpPr txBox="1"/>
          <p:nvPr/>
        </p:nvSpPr>
        <p:spPr>
          <a:xfrm>
            <a:off x="7726680" y="1965960"/>
            <a:ext cx="3383280" cy="411480"/>
          </a:xfrm>
          <a:prstGeom prst="rect">
            <a:avLst/>
          </a:prstGeom>
          <a:noFill/>
          <a:ln/>
        </p:spPr>
        <p:txBody>
          <a:bodyPr wrap="square" lIns="0" tIns="0" rIns="0" bIns="0" rtlCol="0" anchor="t"/>
          <a:lstStyle/>
          <a:p>
            <a:pPr indent="0" marL="0">
              <a:buNone/>
            </a:pPr>
            <a:r>
              <a:rPr lang="en-US" sz="1600" b="1" dirty="0">
                <a:solidFill>
                  <a:schemeClr val="accent6"/>
                </a:solidFill>
              </a:rPr>
              <a:t>In one sentence</a:t>
            </a:r>
            <a:endParaRPr lang="en-US" sz="1600" dirty="0"/>
          </a:p>
        </p:txBody>
      </p:sp>
      <p:sp>
        <p:nvSpPr>
          <p:cNvPr id="6" name="summary text"/>
          <p:cNvSpPr txBox="1"/>
          <p:nvPr/>
        </p:nvSpPr>
        <p:spPr>
          <a:xfrm>
            <a:off x="7726680" y="2468880"/>
            <a:ext cx="3383280" cy="2560320"/>
          </a:xfrm>
          <a:prstGeom prst="rect">
            <a:avLst/>
          </a:prstGeom>
          <a:noFill/>
          <a:ln/>
        </p:spPr>
        <p:txBody>
          <a:bodyPr wrap="square" lIns="0" tIns="0" rIns="0" bIns="0" rtlCol="0" anchor="t"/>
          <a:lstStyle/>
          <a:p>
            <a:pPr indent="0" marL="0">
              <a:buNone/>
            </a:pPr>
            <a:r>
              <a:rPr lang="en-US" sz="1800" dirty="0">
                <a:solidFill>
                  <a:schemeClr val="bg1"/>
                </a:solidFill>
              </a:rPr>
              <a:t>Layer 1 checks every ID before a query runs, Layer 2 checks every object while it runs, and Layer 2's records teach a model where Layer 1 is blind.</a:t>
            </a:r>
            <a:endParaRPr lang="en-US" sz="1800" dirty="0"/>
          </a:p>
        </p:txBody>
      </p:sp>
    </p:spTree>
  </p:cSld>
  <p:clrMapOvr>
    <a:masterClrMapping/>
  </p:clrMapOvr>
</p:sld>
</file>

<file path=ppt/theme/theme1.xml><?xml version="1.0" encoding="utf-8"?>
<a:theme xmlns:a="http://schemas.openxmlformats.org/drawingml/2006/main" name="GraphQL Shield">
  <a:themeElements>
    <a:clrScheme name="GraphQL Shield">
      <a:dk1>
        <a:srgbClr val="0B1426"/>
      </a:dk1>
      <a:lt1>
        <a:srgbClr val="FFFFFF"/>
      </a:lt1>
      <a:dk2>
        <a:srgbClr val="1D2B47"/>
      </a:dk2>
      <a:lt2>
        <a:srgbClr val="EEF3F9"/>
      </a:lt2>
      <a:accent1>
        <a:srgbClr val="0B8FA6"/>
      </a:accent1>
      <a:accent2>
        <a:srgbClr val="17945F"/>
      </a:accent2>
      <a:accent3>
        <a:srgbClr val="C93C3C"/>
      </a:accent3>
      <a:accent4>
        <a:srgbClr val="E59A1F"/>
      </a:accent4>
      <a:accent5>
        <a:srgbClr val="5B6B86"/>
      </a:accent5>
      <a:accent6>
        <a:srgbClr val="7FD3E3"/>
      </a:accent6>
      <a:hlink>
        <a:srgbClr val="0B8FA6"/>
      </a:hlink>
      <a:folHlink>
        <a:srgbClr val="5B6B86"/>
      </a:folHlink>
    </a:clrScheme>
    <a:fontScheme name="GraphQL 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GraphQL-Shield: stopping BOLA attacks in GraphQL</dc:title>
  <dc:subject>Project and dashboard presentation</dc:subject>
  <dc:creator>PptxGenJS</dc:creator>
  <cp:lastModifiedBy>PptxGenJS</cp:lastModifiedBy>
  <cp:revision>1</cp:revision>
  <dcterms:created xsi:type="dcterms:W3CDTF">2026-10-24T03:34:51Z</dcterms:created>
  <dcterms:modified xsi:type="dcterms:W3CDTF">2026-10-24T03:34:51Z</dcterms:modified>
</cp:coreProperties>
</file>